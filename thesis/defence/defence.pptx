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and thank you for reading the thesis.
My project is an experimental study of learning-augmented algorithms for online bipartite matching — algorithms that are handed a prediction about the future and are supposed to exploit it when it is good and survive it when it is bad.
The single sentence I would like you to leave with is on the slide: on average-case inputs, predictions in this problem are robustness insurance, not a performance lever. Everything I show in the next fifteen minutes is either evidence for that sentence or an attempt to break it.
I will spend about four minutes on the problem and the method, seven on the results, and the last few on what the project achieved and where it falls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Online bipartite matching is the canonical model of irrevocable sequential allocation.
One side of the graph — the resources — is known in advance. The other side, the requests, arrives one at a time. Each request must be matched to a free compatible resource, or dropped, immediately, before you see the rest of the input. Nothing can be undone.
That abstraction sits underneath online advertising, ride-hailing dispatch, and request routing in modern inference-serving systems.
Throughout, performance is the ratio of the matching an algorithm produces to the offline optimum on the same instance — so 1.0 means it did as well as an algorithm that saw the whole input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influential idea in this area is to hand such an algorithm a prediction about the input and ask for two guarantees at once.
Consistency: near-optimal performance when the prediction is good. Robustness: no worse than a prediction-free algorithm when the prediction is wrong.
For matching specifically, two families exist. MinPredictedDegree consumes a prediction of how contended each resource will be, and protects the scarcest resources first. The test-and-fallback family tests a prediction of the arrival mix on a short prefix of the requests, and then commits — either to following the prediction or to falling back on an advice-free baseline.
The problem is at the bottom of the slide. These two families had only ever been analysed in isolation: each on its own input model, its own notion of prediction error, and almost entirely through worst-case theory. There was no common ground on which to compare them, or to ask what a prediction is actually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is organised around three questions.
Q1 is the comparison question: how do these algorithms actually compare, head to head, on common inputs under a single error model — and how much does a prediction buy on realistic data?
Q2 goes inside the adaptive mechanism: what does its test cost, how well is its accept-or-reject decision calibrated, and where does it go wrong?
Q3 is the "why" question: the gap between the worst-case promise and the average-case experience — is it an accident of the algorithms and generators I happened to choose, or is it necessary?
The first two I answer experimentally. The third I answer in outlook form, and I will be explicit later about exactly how far that answer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instrument. One harness, in which every algorithm sees the same graphs, the same arrival sequences, the same offline optimum, and the same paired random streams — so within a comparison, the only thing that varies is the prediction.
One choice matters more than the rest: the errors are structured, injected along the structure of the instance rather than as independent noise. I will come back to why that mattered.
On the right is the discipline point. Before building anything on this harness I reproduced the published study of Borodin, Karavasilis and Pankratov. All five qualitative claims I checked reproduce within 0.02 — with a different language and a different max-flow routine. That is what lets me attribute every later difference to the algorithms rather than to my infrastructure.
It then runs on synthetic families, six real-world graphs, and three real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result, and the figure is the consistency–robustness plane: each algorithm is a point, horizontal axis is how it does under the worst advice, vertical axis is how it does under perfect advice. Up and to the right is better.
Read the four numbers underneath. On the few-types instances, the advice-free baseline — Ranking, which uses no prediction at all — already reaches 0.990 of the offline optimum. Perfect advice reaches 0.999. So the entire consistency headroom, the whole prize for having a good prediction, is 0.009.
Now the other side. An algorithm that simply follows the same prediction without guarding itself collapses to 0.472 when the prediction is bad — less than half the optimum, and far below the baseline that ignores predictions entirely. The guarded algorithm holds 0.990 whatever the advice.
So the asymmetry is roughly fifty to one. Every wide gap in this benchmark is a downside gap; nothing widens on the upside. The practical worth of these sophisticated algorithms is not that they win — it is that they never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is small — so what governs it?
The algorithm consumes its predictor only through the ordering it induces, so the question is not how large the error is but which order error matters.
Plotted against a Kendall-tau order error — the fraction of resource pairs ranked in the wrong relative order — all four error models collapse onto one curve, Spearman 0.979. A purely monotone rescaling has zero order error and, as predicted, zero loss.
The left panel also shows the known bound from the literature is correct but loose by sixteen to seventy-five times, and saturates near its maximum for every non-trivial error — so it cannot tell a harmful prediction from a harmless one.
On credit: that order rather than magnitude matters is Aamand, Chen and Indyk's theorem. Mine is the characterisation — which order measure governs the loss, and how much room their bound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two: what goes wrong inside the adaptive mechanism.
First, a calibration pathology. The acceptance threshold is calibrated against the baseline's proved worst-case ratio, which on average-case inputs is far too lenient. The consequence is counter-intuitive: a small, noisy prefix over-estimates the distance, rejects borderline advice and lands safely on the floor — right, but for the wrong reason. A larger, more accurate prefix measures correctly, accepts, and does worse. More measurement, worse decision.
Recalibrating removes that pathology, and exposes the deeper thing: the resolution limit. No practical threshold can capture an upside smaller than its own estimator's noise.
The figure is the one to remember. Sweeping the number of request types sweeps the baseline's strength. As the baseline weakens the potential upside grows — the upper curve — but the upside a sublinear test can safely capture stays pinned near zero across the whole range. The curves separate rather than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benchmark on synthetic instances is only worth as much as its external validity, so I replaced the synthetic knob with the cheapest realistic predictor I could think of: last-window historical counts from a real Wikipedia pageview trace, where the error is genuine temporal drift rather than injected noise.
Three things. The predictor is cheap — a linear-time count, about a tenth of a millisecond, against four and a half milliseconds to compute the optimum once. Its benefit is real but partial: it captures between twenty-seven and sixty-eight percent of the available gap, falling with staleness, and it never drops below the baseline.
And the reason it survives is the mechanism from the previous slide. Aggregating the forecast onto the serving topology roughly halves its order error — and order is the only thing the algorithm consumes. Consuming the very same forecast through the raw histogram route, without a guard, collapses to 0.36 against a 0.92 baseline.
I also re-ran the whole roster on six real-world graphs — social, biological and economic. The crash finding holds on all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simply accept the wall. Two attempts to get past it, both reported as results rather than left out.
First, train the predictor better: since the algorithm consumes only the ordering, train it with an order-aware loss. M0 shows the mechanism is real — with engineered features the rank-trained predictor reaches 0.989 against 0.974 while fitting the truth worse. M1 shows the advantage is doubly gated and peaks at just over one percent. M3 is decisive: on genuine temporal features from a real trace the two predictors produce identical order and identical matchings. The divergence that powers the idea is a property of engineered features.
Second, change the objective — if throughput is too forgiving, try tail latency under bursty load. There the best non-predictive policy comes within three percent of a policy that knows the future exactly.
Both negatives reinforce the finding rather than escaping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three. Is the wall an accident of my inputs, or should it be expected?
I prove one inequality. Take two instance distributions sharing the same advice — one where following it helps, one where it hurts. Every test-and-fallback algorithm, deciding by any measurable rule on its prefix, satisfies the displayed bound: the upside it forgoes is bounded below by its robustness loss plus the statistical distance between the two prefix distributions. The proof is a short conditioning argument — no function of the prefix can behave differently on two prefix distributions that are statistically close.
That converts "consistent and robust" into a question of sample complexity.
Reading my measurements through it: the stakes are capped by the slack the baseline leaves, so on strong-baseline instances the prefix you would need exceeds the whole instance. At the benchmark's parameters that puts the uncapturable upside at about 0.004 — exactly the order of the upsides I measured.
On scope, because this is where I would expect you to push: only the inequality is proved here. The budget law behind the number, and whether it extends beyond decomposable families, is not established in this thesis, and I say so wherever the outlook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 explicit about how far the project got against its own aims, because I think that is the fair way to be examined.
The brief I was given asked me to reproduce some of Borodin et al.'s experiments, extend them with additional algorithms, and compare on different graph types. The reproduction and the graph types are done. The extension is done but not in the direction the brief suggested — it named streaming or offline algorithms, and my proposal substituted the learning-augmented family, on the argument that its theory had outrun its experiments. I raised that with my supervisor before starting and I would defend it, but it is a substitution rather than an addition.
Against my own proposal: RQ1, whether the theoretical ordering matches the practical one, is answered, and the answer is no — the worst-case-designed algorithms are the weakest advice-free entries here. RQ3, the real cost of the fallback mechanism, is answered most completely. RQ2, the shape of the error curves and where they cross, only in part.
And one thing I promised and did not deliver. My proposal made arrival order an independent variable, to be reported separately for random, adversarial and real order. I worked only in known-i.i.d. Real order appears through the traces, but there is no adversarial arm — and known-i.i.d. is exactly the model where my headline is most likely to hold. That removed the one condition that could have falsified it, which is why it heads the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On average-case online matching the honest verdict has three parts.
A cheap, order-faithful predictor already captures nearly all there is to capture. The sophisticated machinery earns its keep as insurance rather than as performance. And finding out whether to trust a prediction costs more, on these inputs, than the prediction is worth.
Where should someone look for predictions that genuinely pay? Precisely where I did not: adversarial or non-stationary arrival orders, where the advice-free baseline is provably far from optimal; objectives on which the baseline is not near-optimal, such as tail latency or fairness; and finishing the budget–stakes law so that the outlook becomes a characterisation rather than a reading.
This is a study of the limits of a popular idea on one well-understood problem. Recognising where predictions cannot help is, I hope, as useful as knowing where they can.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The four findings of the unified benchmark, re-run on six real-world graphs from Network Repository — two Facebook social, two C. elegans biological, two economic input-output.
F1 and F3, the two load-bearing findings, hold on all six. F2 holds qualitatively on all six and strictly on four; the two exceptions are the dense economic graphs, where matching is nearly trivial — so there is neither upside to capture nor much downside to protect. That boundary is F3's own mechanism at work rather than an exception to it.
F4 is the most dramatic: the worst-case-designed algorithms are the weakest advice-free entries on these graphs, and the prediction lifts them by 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the relaxation ladder, Appendix A.7. This is the arm the brief actually suggested — streaming or offline algorithms — done at reduced scope after the main work, and arranged so it speaks to my own question rather than sitting beside it. Semi-streaming means the graph arrives as a stream of edges, memory is O(n), and you may take several passes; so relative to online vertex arrival it takes memory away and gives revision back. Two things came out. First, one pass is not a free lunch: it is worse than online Greedy on seven of the nine graphs, because vertex arrival groups a node's edges together and a random edge order does not. Second, the second pass is the lever — one revision pass buys more than a perfect degree prediction on seven of nine, including every real graph. That locates the residual gap in irrevocability rather than in missing information, which is the same conclusion Chapter 6 reaches from the other side. The honest caveat is that a second pass is not an online algorithm at all: where the decision is physically committed on arrival, prediction is the only one of the two routes available. The ladder measures the size of each route's upside, not its applicability.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the limitations, as stated in the thesis.
The two I would volunteer first if asked what most constrains the conclusion are the input model and the objective. The wall is an average-case statement in the known-i.i.d. model, and it is a statement about matching size. Both are named in the future work as exactly where a positive counterpart should be looked for.
On the test model: the surrogate is what the original authors specify, and section 10.2 argues its blindness is structural rather than an implementation artefact — but that argument is an interpretation of measurements, not a measurement of an actual tolerant tester.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3"/>
        </a:solidFill>
      </p:bgPr>
    </p:bg>
    <p:spTree>
      <p:nvGrpSpPr>
        <p:cNvPr id="1" name=""/>
        <p:cNvGrpSpPr/>
        <p:nvPr/>
      </p:nvGrpSpPr>
      <p:grpSpPr>
        <a:xfrm>
          <a:off x="0" y="0"/>
          <a:ext cx="0" cy="0"/>
          <a:chOff x="0" y="0"/>
          <a:chExt cx="0" cy="0"/>
        </a:xfrm>
      </p:grpSpPr>
      <p:sp>
        <p:nvSpPr>
          <p:cNvPr id="3" name="Text 0"/>
          <p:cNvSpPr/>
          <p:nvPr/>
        </p:nvSpPr>
        <p:spPr>
          <a:xfrm>
            <a:off x="640080" y="1600200"/>
            <a:ext cx="7498080" cy="658368"/>
          </a:xfrm>
          <a:prstGeom prst="rect">
            <a:avLst/>
          </a:prstGeom>
          <a:noFill/>
          <a:ln/>
        </p:spPr>
        <p:txBody>
          <a:bodyPr wrap="square" lIns="0" tIns="0" rIns="0" bIns="0" rtlCol="0" anchor="ctr"/>
          <a:lstStyle/>
          <a:p>
            <a:pPr indent="0" marL="0">
              <a:buNone/>
            </a:pPr>
            <a:r>
              <a:rPr lang="en-US" sz="4000" dirty="0">
                <a:solidFill>
                  <a:srgbClr val="FFFFFF"/>
                </a:solidFill>
                <a:latin typeface="Cambria" pitchFamily="34" charset="0"/>
                <a:ea typeface="Cambria" pitchFamily="34" charset="-122"/>
                <a:cs typeface="Cambria" pitchFamily="34" charset="-120"/>
              </a:rPr>
              <a:t>The Limits of Predictions for</a:t>
            </a:r>
            <a:endParaRPr lang="en-US" sz="4000" dirty="0"/>
          </a:p>
        </p:txBody>
      </p:sp>
      <p:sp>
        <p:nvSpPr>
          <p:cNvPr id="4" name="Text 1"/>
          <p:cNvSpPr/>
          <p:nvPr/>
        </p:nvSpPr>
        <p:spPr>
          <a:xfrm>
            <a:off x="640080" y="2240280"/>
            <a:ext cx="749808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Online Bipartite Matching</a:t>
            </a:r>
            <a:endParaRPr lang="en-US" sz="4000" dirty="0"/>
          </a:p>
        </p:txBody>
      </p:sp>
      <p:sp>
        <p:nvSpPr>
          <p:cNvPr id="5" name="Text 2"/>
          <p:cNvSpPr/>
          <p:nvPr/>
        </p:nvSpPr>
        <p:spPr>
          <a:xfrm>
            <a:off x="640080" y="3063240"/>
            <a:ext cx="7498080" cy="457200"/>
          </a:xfrm>
          <a:prstGeom prst="rect">
            <a:avLst/>
          </a:prstGeom>
          <a:noFill/>
          <a:ln/>
        </p:spPr>
        <p:txBody>
          <a:bodyPr wrap="square" lIns="0" tIns="0" rIns="0" bIns="0" rtlCol="0" anchor="ctr"/>
          <a:lstStyle/>
          <a:p>
            <a:pPr indent="0" marL="0">
              <a:buNone/>
            </a:pPr>
            <a:r>
              <a:rPr lang="en-US" sz="2000" dirty="0">
                <a:solidFill>
                  <a:srgbClr val="CBD5DC"/>
                </a:solidFill>
                <a:latin typeface="Calibri" pitchFamily="34" charset="0"/>
                <a:ea typeface="Calibri" pitchFamily="34" charset="-122"/>
                <a:cs typeface="Calibri" pitchFamily="34" charset="-120"/>
              </a:rPr>
              <a:t>A Unified Experimental Study</a:t>
            </a:r>
            <a:endParaRPr lang="en-US" sz="2000" dirty="0"/>
          </a:p>
        </p:txBody>
      </p:sp>
      <p:sp>
        <p:nvSpPr>
          <p:cNvPr id="6" name="Text 3"/>
          <p:cNvSpPr/>
          <p:nvPr/>
        </p:nvSpPr>
        <p:spPr>
          <a:xfrm>
            <a:off x="640080" y="3977640"/>
            <a:ext cx="54864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Zhuolun Li</a:t>
            </a:r>
            <a:endParaRPr lang="en-US" sz="1700" dirty="0"/>
          </a:p>
        </p:txBody>
      </p:sp>
      <p:sp>
        <p:nvSpPr>
          <p:cNvPr id="7" name="Text 4"/>
          <p:cNvSpPr/>
          <p:nvPr/>
        </p:nvSpPr>
        <p:spPr>
          <a:xfrm>
            <a:off x="640080" y="4370832"/>
            <a:ext cx="7498080" cy="365760"/>
          </a:xfrm>
          <a:prstGeom prst="rect">
            <a:avLst/>
          </a:prstGeom>
          <a:noFill/>
          <a:ln/>
        </p:spPr>
        <p:txBody>
          <a:bodyPr wrap="square" lIns="0" tIns="0" rIns="0" bIns="0" rtlCol="0" anchor="ctr"/>
          <a:lstStyle/>
          <a:p>
            <a:pPr indent="0" marL="0">
              <a:buNone/>
            </a:pPr>
            <a:r>
              <a:rPr lang="en-US" sz="1300" dirty="0">
                <a:solidFill>
                  <a:srgbClr val="DDE4EA"/>
                </a:solidFill>
                <a:latin typeface="Calibri" pitchFamily="34" charset="0"/>
                <a:ea typeface="Calibri" pitchFamily="34" charset="-122"/>
                <a:cs typeface="Calibri" pitchFamily="34" charset="-120"/>
              </a:rPr>
              <a:t>MSc in Computer Science  ·  School of Computer Science  ·  University of Bristol</a:t>
            </a:r>
            <a:endParaRPr lang="en-US" sz="1300" dirty="0"/>
          </a:p>
        </p:txBody>
      </p:sp>
      <p:sp>
        <p:nvSpPr>
          <p:cNvPr id="8" name="Text 5"/>
          <p:cNvSpPr/>
          <p:nvPr/>
        </p:nvSpPr>
        <p:spPr>
          <a:xfrm>
            <a:off x="640080" y="5074920"/>
            <a:ext cx="7498080" cy="457200"/>
          </a:xfrm>
          <a:prstGeom prst="rect">
            <a:avLst/>
          </a:prstGeom>
          <a:noFill/>
          <a:ln/>
        </p:spPr>
        <p:txBody>
          <a:bodyPr wrap="square" lIns="0" tIns="0" rIns="0" bIns="0" rtlCol="0" anchor="ctr"/>
          <a:lstStyle/>
          <a:p>
            <a:pPr indent="0" marL="0">
              <a:buNone/>
            </a:pPr>
            <a:r>
              <a:rPr lang="en-US" sz="1500" i="1" dirty="0">
                <a:solidFill>
                  <a:srgbClr val="CBD5DC"/>
                </a:solidFill>
                <a:latin typeface="Calibri" pitchFamily="34" charset="0"/>
                <a:ea typeface="Calibri" pitchFamily="34" charset="-122"/>
                <a:cs typeface="Calibri" pitchFamily="34" charset="-120"/>
              </a:rPr>
              <a:t>Predictions are robustness insurance, not a performance lever.</a:t>
            </a:r>
            <a:endParaRPr lang="en-US" sz="1500" dirty="0"/>
          </a:p>
        </p:txBody>
      </p:sp>
      <p:sp>
        <p:nvSpPr>
          <p:cNvPr id="9" name="Shape 6"/>
          <p:cNvSpPr/>
          <p:nvPr/>
        </p:nvSpPr>
        <p:spPr>
          <a:xfrm>
            <a:off x="8549640" y="1600200"/>
            <a:ext cx="2971800" cy="3931920"/>
          </a:xfrm>
          <a:prstGeom prst="roundRect">
            <a:avLst>
              <a:gd name="adj" fmla="val 2462"/>
            </a:avLst>
          </a:prstGeom>
          <a:solidFill>
            <a:srgbClr val="2E3A46"/>
          </a:solidFill>
          <a:ln w="12700">
            <a:solidFill>
              <a:srgbClr val="2E3A46"/>
            </a:solidFill>
            <a:prstDash val="solid"/>
          </a:ln>
        </p:spPr>
      </p:sp>
      <p:sp>
        <p:nvSpPr>
          <p:cNvPr id="10" name="Text 7"/>
          <p:cNvSpPr/>
          <p:nvPr/>
        </p:nvSpPr>
        <p:spPr>
          <a:xfrm>
            <a:off x="8823960" y="1874520"/>
            <a:ext cx="2468880"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0.990</a:t>
            </a:r>
            <a:endParaRPr lang="en-US" sz="3400" dirty="0"/>
          </a:p>
        </p:txBody>
      </p:sp>
      <p:sp>
        <p:nvSpPr>
          <p:cNvPr id="11" name="Text 8"/>
          <p:cNvSpPr/>
          <p:nvPr/>
        </p:nvSpPr>
        <p:spPr>
          <a:xfrm>
            <a:off x="8823960" y="2441448"/>
            <a:ext cx="2468880" cy="320040"/>
          </a:xfrm>
          <a:prstGeom prst="rect">
            <a:avLst/>
          </a:prstGeom>
          <a:noFill/>
          <a:ln/>
        </p:spPr>
        <p:txBody>
          <a:bodyPr wrap="square" lIns="0" tIns="0" rIns="0" bIns="0" rtlCol="0" anchor="ctr"/>
          <a:lstStyle/>
          <a:p>
            <a:pPr indent="0" marL="0">
              <a:buNone/>
            </a:pPr>
            <a:r>
              <a:rPr lang="en-US" sz="1200" dirty="0">
                <a:solidFill>
                  <a:srgbClr val="CBD5DC"/>
                </a:solidFill>
                <a:latin typeface="Calibri" pitchFamily="34" charset="0"/>
                <a:ea typeface="Calibri" pitchFamily="34" charset="-122"/>
                <a:cs typeface="Calibri" pitchFamily="34" charset="-120"/>
              </a:rPr>
              <a:t>the advice-free baseline</a:t>
            </a:r>
            <a:endParaRPr lang="en-US" sz="1200" dirty="0"/>
          </a:p>
        </p:txBody>
      </p:sp>
      <p:sp>
        <p:nvSpPr>
          <p:cNvPr id="12" name="Text 9"/>
          <p:cNvSpPr/>
          <p:nvPr/>
        </p:nvSpPr>
        <p:spPr>
          <a:xfrm>
            <a:off x="8823960" y="3118104"/>
            <a:ext cx="2468880" cy="566928"/>
          </a:xfrm>
          <a:prstGeom prst="rect">
            <a:avLst/>
          </a:prstGeom>
          <a:noFill/>
          <a:ln/>
        </p:spPr>
        <p:txBody>
          <a:bodyPr wrap="square" lIns="0" tIns="0" rIns="0" bIns="0" rtlCol="0" anchor="ctr"/>
          <a:lstStyle/>
          <a:p>
            <a:pPr indent="0" marL="0">
              <a:buNone/>
            </a:pPr>
            <a:r>
              <a:rPr lang="en-US" sz="3400" b="1" dirty="0">
                <a:solidFill>
                  <a:srgbClr val="2F6F6B"/>
                </a:solidFill>
                <a:latin typeface="Cambria" pitchFamily="34" charset="0"/>
                <a:ea typeface="Cambria" pitchFamily="34" charset="-122"/>
                <a:cs typeface="Cambria" pitchFamily="34" charset="-120"/>
              </a:rPr>
              <a:t>0.009</a:t>
            </a:r>
            <a:endParaRPr lang="en-US" sz="3400" dirty="0"/>
          </a:p>
        </p:txBody>
      </p:sp>
      <p:sp>
        <p:nvSpPr>
          <p:cNvPr id="13" name="Text 10"/>
          <p:cNvSpPr/>
          <p:nvPr/>
        </p:nvSpPr>
        <p:spPr>
          <a:xfrm>
            <a:off x="8823960" y="3685032"/>
            <a:ext cx="2468880" cy="320040"/>
          </a:xfrm>
          <a:prstGeom prst="rect">
            <a:avLst/>
          </a:prstGeom>
          <a:noFill/>
          <a:ln/>
        </p:spPr>
        <p:txBody>
          <a:bodyPr wrap="square" lIns="0" tIns="0" rIns="0" bIns="0" rtlCol="0" anchor="ctr"/>
          <a:lstStyle/>
          <a:p>
            <a:pPr indent="0" marL="0">
              <a:buNone/>
            </a:pPr>
            <a:r>
              <a:rPr lang="en-US" sz="1200" dirty="0">
                <a:solidFill>
                  <a:srgbClr val="CBD5DC"/>
                </a:solidFill>
                <a:latin typeface="Calibri" pitchFamily="34" charset="0"/>
                <a:ea typeface="Calibri" pitchFamily="34" charset="-122"/>
                <a:cs typeface="Calibri" pitchFamily="34" charset="-120"/>
              </a:rPr>
              <a:t>left for perfect advice</a:t>
            </a:r>
            <a:endParaRPr lang="en-US" sz="1200" dirty="0"/>
          </a:p>
        </p:txBody>
      </p:sp>
      <p:sp>
        <p:nvSpPr>
          <p:cNvPr id="14" name="Text 11"/>
          <p:cNvSpPr/>
          <p:nvPr/>
        </p:nvSpPr>
        <p:spPr>
          <a:xfrm>
            <a:off x="8823960" y="4361688"/>
            <a:ext cx="2468880" cy="566928"/>
          </a:xfrm>
          <a:prstGeom prst="rect">
            <a:avLst/>
          </a:prstGeom>
          <a:noFill/>
          <a:ln/>
        </p:spPr>
        <p:txBody>
          <a:bodyPr wrap="square" lIns="0" tIns="0" rIns="0" bIns="0" rtlCol="0" anchor="ctr"/>
          <a:lstStyle/>
          <a:p>
            <a:pPr indent="0" marL="0">
              <a:buNone/>
            </a:pPr>
            <a:r>
              <a:rPr lang="en-US" sz="3400" b="1" dirty="0">
                <a:solidFill>
                  <a:srgbClr val="C1440E"/>
                </a:solidFill>
                <a:latin typeface="Cambria" pitchFamily="34" charset="0"/>
                <a:ea typeface="Cambria" pitchFamily="34" charset="-122"/>
                <a:cs typeface="Cambria" pitchFamily="34" charset="-120"/>
              </a:rPr>
              <a:t>0.472</a:t>
            </a:r>
            <a:endParaRPr lang="en-US" sz="3400" dirty="0"/>
          </a:p>
        </p:txBody>
      </p:sp>
      <p:sp>
        <p:nvSpPr>
          <p:cNvPr id="15" name="Text 12"/>
          <p:cNvSpPr/>
          <p:nvPr/>
        </p:nvSpPr>
        <p:spPr>
          <a:xfrm>
            <a:off x="8823960" y="4928616"/>
            <a:ext cx="2468880" cy="320040"/>
          </a:xfrm>
          <a:prstGeom prst="rect">
            <a:avLst/>
          </a:prstGeom>
          <a:noFill/>
          <a:ln/>
        </p:spPr>
        <p:txBody>
          <a:bodyPr wrap="square" lIns="0" tIns="0" rIns="0" bIns="0" rtlCol="0" anchor="ctr"/>
          <a:lstStyle/>
          <a:p>
            <a:pPr indent="0" marL="0">
              <a:buNone/>
            </a:pPr>
            <a:r>
              <a:rPr lang="en-US" sz="1200" dirty="0">
                <a:solidFill>
                  <a:srgbClr val="CBD5DC"/>
                </a:solidFill>
                <a:latin typeface="Calibri" pitchFamily="34" charset="0"/>
                <a:ea typeface="Calibri" pitchFamily="34" charset="-122"/>
                <a:cs typeface="Calibri" pitchFamily="34" charset="-120"/>
              </a:rPr>
              <a:t>unguarded following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THE PROBLEM</a:t>
            </a:r>
            <a:endParaRPr lang="en-US" sz="1100" dirty="0"/>
          </a:p>
        </p:txBody>
      </p:sp>
      <p:sp>
        <p:nvSpPr>
          <p:cNvPr id="4"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200" b="1" dirty="0">
                <a:solidFill>
                  <a:srgbClr val="2B3440"/>
                </a:solidFill>
                <a:latin typeface="Cambria" pitchFamily="34" charset="0"/>
                <a:ea typeface="Cambria" pitchFamily="34" charset="-122"/>
                <a:cs typeface="Cambria" pitchFamily="34" charset="-120"/>
              </a:rPr>
              <a:t>Irrevocable decisions under uncertainty</a:t>
            </a:r>
            <a:endParaRPr lang="en-US" sz="3200" dirty="0"/>
          </a:p>
        </p:txBody>
      </p:sp>
      <p:sp>
        <p:nvSpPr>
          <p:cNvPr id="5" name="Text 2"/>
          <p:cNvSpPr/>
          <p:nvPr/>
        </p:nvSpPr>
        <p:spPr>
          <a:xfrm>
            <a:off x="640080" y="1554480"/>
            <a:ext cx="502920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B3440"/>
                </a:solidFill>
                <a:latin typeface="Calibri" pitchFamily="34" charset="0"/>
                <a:ea typeface="Calibri" pitchFamily="34" charset="-122"/>
                <a:cs typeface="Calibri" pitchFamily="34" charset="-120"/>
              </a:rPr>
              <a:t>Resources are known in advance; requests arrive one at a time.</a:t>
            </a:r>
            <a:endParaRPr lang="en-US" sz="1500" dirty="0"/>
          </a:p>
          <a:p>
            <a:pPr marL="342900" indent="-342900">
              <a:spcAft>
                <a:spcPts val="800"/>
              </a:spcAft>
              <a:buSzPct val="100000"/>
              <a:buChar char="•"/>
            </a:pPr>
            <a:r>
              <a:rPr lang="en-US" sz="1500" dirty="0">
                <a:solidFill>
                  <a:srgbClr val="2B3440"/>
                </a:solidFill>
                <a:latin typeface="Calibri" pitchFamily="34" charset="0"/>
                <a:ea typeface="Calibri" pitchFamily="34" charset="-122"/>
                <a:cs typeface="Calibri" pitchFamily="34" charset="-120"/>
              </a:rPr>
              <a:t>Each request must be matched to a free compatible resource, or dropped, before the rest of the input is seen.</a:t>
            </a:r>
            <a:endParaRPr lang="en-US" sz="1500" dirty="0"/>
          </a:p>
          <a:p>
            <a:pPr marL="342900" indent="-342900">
              <a:spcAft>
                <a:spcPts val="800"/>
              </a:spcAft>
              <a:buSzPct val="100000"/>
              <a:buChar char="•"/>
            </a:pPr>
            <a:r>
              <a:rPr lang="en-US" sz="1500" dirty="0">
                <a:solidFill>
                  <a:srgbClr val="2B3440"/>
                </a:solidFill>
                <a:latin typeface="Calibri" pitchFamily="34" charset="0"/>
                <a:ea typeface="Calibri" pitchFamily="34" charset="-122"/>
                <a:cs typeface="Calibri" pitchFamily="34" charset="-120"/>
              </a:rPr>
              <a:t>No decision can be undone.</a:t>
            </a:r>
            <a:endParaRPr lang="en-US" sz="1500" dirty="0"/>
          </a:p>
        </p:txBody>
      </p:sp>
      <p:sp>
        <p:nvSpPr>
          <p:cNvPr id="6" name="Shape 3"/>
          <p:cNvSpPr/>
          <p:nvPr/>
        </p:nvSpPr>
        <p:spPr>
          <a:xfrm>
            <a:off x="640080" y="3840480"/>
            <a:ext cx="5029200" cy="1051560"/>
          </a:xfrm>
          <a:prstGeom prst="roundRect">
            <a:avLst>
              <a:gd name="adj" fmla="val 6957"/>
            </a:avLst>
          </a:prstGeom>
          <a:solidFill>
            <a:srgbClr val="F1F3F5"/>
          </a:solidFill>
          <a:ln w="12700">
            <a:solidFill>
              <a:srgbClr val="F1F3F5"/>
            </a:solidFill>
            <a:prstDash val="solid"/>
          </a:ln>
        </p:spPr>
      </p:sp>
      <p:sp>
        <p:nvSpPr>
          <p:cNvPr id="7" name="Text 4"/>
          <p:cNvSpPr/>
          <p:nvPr/>
        </p:nvSpPr>
        <p:spPr>
          <a:xfrm>
            <a:off x="932688" y="3977640"/>
            <a:ext cx="4480560" cy="777240"/>
          </a:xfrm>
          <a:prstGeom prst="rect">
            <a:avLst/>
          </a:prstGeom>
          <a:noFill/>
          <a:ln/>
        </p:spPr>
        <p:txBody>
          <a:bodyPr wrap="square" lIns="0" tIns="0" rIns="0" bIns="0" rtlCol="0" anchor="ctr"/>
          <a:lstStyle/>
          <a:p>
            <a:pPr indent="0" marL="0">
              <a:buNone/>
            </a:pPr>
            <a:r>
              <a:rPr lang="en-US" sz="1400" i="1" dirty="0">
                <a:solidFill>
                  <a:srgbClr val="2F6F6B"/>
                </a:solidFill>
                <a:latin typeface="Calibri" pitchFamily="34" charset="0"/>
                <a:ea typeface="Calibri" pitchFamily="34" charset="-122"/>
                <a:cs typeface="Calibri" pitchFamily="34" charset="-120"/>
              </a:rPr>
              <a:t>Online advertising · ride-hailing dispatch · AI-inference request routing</a:t>
            </a:r>
            <a:endParaRPr lang="en-US" sz="1400" dirty="0"/>
          </a:p>
        </p:txBody>
      </p:sp>
      <p:sp>
        <p:nvSpPr>
          <p:cNvPr id="8" name="Text 5"/>
          <p:cNvSpPr/>
          <p:nvPr/>
        </p:nvSpPr>
        <p:spPr>
          <a:xfrm>
            <a:off x="640080" y="5120640"/>
            <a:ext cx="5029200" cy="4572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Performance = the matching produced ÷ the offline optimum on the same instance.</a:t>
            </a:r>
            <a:endParaRPr lang="en-US" sz="1300" dirty="0"/>
          </a:p>
        </p:txBody>
      </p:sp>
      <p:sp>
        <p:nvSpPr>
          <p:cNvPr id="9" name="Text 6"/>
          <p:cNvSpPr/>
          <p:nvPr/>
        </p:nvSpPr>
        <p:spPr>
          <a:xfrm>
            <a:off x="6583680" y="1325880"/>
            <a:ext cx="1463040"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resources</a:t>
            </a:r>
            <a:endParaRPr lang="en-US" sz="1100" dirty="0"/>
          </a:p>
        </p:txBody>
      </p:sp>
      <p:sp>
        <p:nvSpPr>
          <p:cNvPr id="10" name="Text 7"/>
          <p:cNvSpPr/>
          <p:nvPr/>
        </p:nvSpPr>
        <p:spPr>
          <a:xfrm>
            <a:off x="8961120" y="1325880"/>
            <a:ext cx="2377440" cy="274320"/>
          </a:xfrm>
          <a:prstGeom prst="rect">
            <a:avLst/>
          </a:prstGeom>
          <a:noFill/>
          <a:ln/>
        </p:spPr>
        <p:txBody>
          <a:bodyPr wrap="square" lIns="0" tIns="0" rIns="0" bIns="0" rtlCol="0" anchor="ctr"/>
          <a:lstStyle/>
          <a:p>
            <a:pPr indent="0" marL="0">
              <a:buNone/>
            </a:pPr>
            <a:r>
              <a:rPr lang="en-US" sz="1100" b="1" dirty="0">
                <a:solidFill>
                  <a:srgbClr val="6B7280"/>
                </a:solidFill>
                <a:latin typeface="Calibri" pitchFamily="34" charset="0"/>
                <a:ea typeface="Calibri" pitchFamily="34" charset="-122"/>
                <a:cs typeface="Calibri" pitchFamily="34" charset="-120"/>
              </a:rPr>
              <a:t>requests, in arrival order</a:t>
            </a:r>
            <a:endParaRPr lang="en-US" sz="1100" dirty="0"/>
          </a:p>
        </p:txBody>
      </p:sp>
      <p:sp>
        <p:nvSpPr>
          <p:cNvPr id="11" name="Shape 8"/>
          <p:cNvSpPr/>
          <p:nvPr/>
        </p:nvSpPr>
        <p:spPr>
          <a:xfrm>
            <a:off x="7040880" y="1965960"/>
            <a:ext cx="2240280" cy="0"/>
          </a:xfrm>
          <a:prstGeom prst="line">
            <a:avLst/>
          </a:prstGeom>
          <a:noFill/>
          <a:ln w="15875">
            <a:solidFill>
              <a:srgbClr val="CBD5DC"/>
            </a:solidFill>
            <a:prstDash val="dash"/>
          </a:ln>
        </p:spPr>
      </p:sp>
      <p:sp>
        <p:nvSpPr>
          <p:cNvPr id="12" name="Shape 9"/>
          <p:cNvSpPr/>
          <p:nvPr/>
        </p:nvSpPr>
        <p:spPr>
          <a:xfrm flipV="1">
            <a:off x="7040880" y="1965960"/>
            <a:ext cx="2240280" cy="713232"/>
          </a:xfrm>
          <a:prstGeom prst="line">
            <a:avLst/>
          </a:prstGeom>
          <a:noFill/>
          <a:ln w="15875">
            <a:solidFill>
              <a:srgbClr val="CBD5DC"/>
            </a:solidFill>
            <a:prstDash val="dash"/>
          </a:ln>
        </p:spPr>
      </p:sp>
      <p:sp>
        <p:nvSpPr>
          <p:cNvPr id="13" name="Shape 10"/>
          <p:cNvSpPr/>
          <p:nvPr/>
        </p:nvSpPr>
        <p:spPr>
          <a:xfrm>
            <a:off x="7040880" y="2679192"/>
            <a:ext cx="2240280" cy="0"/>
          </a:xfrm>
          <a:prstGeom prst="line">
            <a:avLst/>
          </a:prstGeom>
          <a:noFill/>
          <a:ln w="15875">
            <a:solidFill>
              <a:srgbClr val="CBD5DC"/>
            </a:solidFill>
            <a:prstDash val="dash"/>
          </a:ln>
        </p:spPr>
      </p:sp>
      <p:sp>
        <p:nvSpPr>
          <p:cNvPr id="14" name="Shape 11"/>
          <p:cNvSpPr/>
          <p:nvPr/>
        </p:nvSpPr>
        <p:spPr>
          <a:xfrm flipV="1">
            <a:off x="7040880" y="2679192"/>
            <a:ext cx="2240280" cy="713232"/>
          </a:xfrm>
          <a:prstGeom prst="line">
            <a:avLst/>
          </a:prstGeom>
          <a:noFill/>
          <a:ln w="15875">
            <a:solidFill>
              <a:srgbClr val="CBD5DC"/>
            </a:solidFill>
            <a:prstDash val="dash"/>
          </a:ln>
        </p:spPr>
      </p:sp>
      <p:sp>
        <p:nvSpPr>
          <p:cNvPr id="15" name="Shape 12"/>
          <p:cNvSpPr/>
          <p:nvPr/>
        </p:nvSpPr>
        <p:spPr>
          <a:xfrm>
            <a:off x="7040880" y="2679192"/>
            <a:ext cx="2240280" cy="713232"/>
          </a:xfrm>
          <a:prstGeom prst="line">
            <a:avLst/>
          </a:prstGeom>
          <a:noFill/>
          <a:ln w="15875">
            <a:solidFill>
              <a:srgbClr val="CBD5DC"/>
            </a:solidFill>
            <a:prstDash val="dash"/>
          </a:ln>
        </p:spPr>
      </p:sp>
      <p:sp>
        <p:nvSpPr>
          <p:cNvPr id="16" name="Shape 13"/>
          <p:cNvSpPr/>
          <p:nvPr/>
        </p:nvSpPr>
        <p:spPr>
          <a:xfrm>
            <a:off x="7040880" y="3392424"/>
            <a:ext cx="2240280" cy="0"/>
          </a:xfrm>
          <a:prstGeom prst="line">
            <a:avLst/>
          </a:prstGeom>
          <a:noFill/>
          <a:ln w="15875">
            <a:solidFill>
              <a:srgbClr val="CBD5DC"/>
            </a:solidFill>
            <a:prstDash val="dash"/>
          </a:ln>
        </p:spPr>
      </p:sp>
      <p:sp>
        <p:nvSpPr>
          <p:cNvPr id="17" name="Shape 14"/>
          <p:cNvSpPr/>
          <p:nvPr/>
        </p:nvSpPr>
        <p:spPr>
          <a:xfrm>
            <a:off x="7040880" y="2679192"/>
            <a:ext cx="2240280" cy="1426464"/>
          </a:xfrm>
          <a:prstGeom prst="line">
            <a:avLst/>
          </a:prstGeom>
          <a:noFill/>
          <a:ln w="15875">
            <a:solidFill>
              <a:srgbClr val="CBD5DC"/>
            </a:solidFill>
            <a:prstDash val="dash"/>
          </a:ln>
        </p:spPr>
      </p:sp>
      <p:sp>
        <p:nvSpPr>
          <p:cNvPr id="18" name="Shape 15"/>
          <p:cNvSpPr/>
          <p:nvPr/>
        </p:nvSpPr>
        <p:spPr>
          <a:xfrm>
            <a:off x="7040880" y="1965960"/>
            <a:ext cx="2240280" cy="0"/>
          </a:xfrm>
          <a:prstGeom prst="line">
            <a:avLst/>
          </a:prstGeom>
          <a:noFill/>
          <a:ln w="25400">
            <a:solidFill>
              <a:srgbClr val="2F6F6B"/>
            </a:solidFill>
            <a:prstDash val="solid"/>
          </a:ln>
        </p:spPr>
      </p:sp>
      <p:sp>
        <p:nvSpPr>
          <p:cNvPr id="19" name="Shape 16"/>
          <p:cNvSpPr/>
          <p:nvPr/>
        </p:nvSpPr>
        <p:spPr>
          <a:xfrm>
            <a:off x="7040880" y="2679192"/>
            <a:ext cx="2240280" cy="0"/>
          </a:xfrm>
          <a:prstGeom prst="line">
            <a:avLst/>
          </a:prstGeom>
          <a:noFill/>
          <a:ln w="25400">
            <a:solidFill>
              <a:srgbClr val="2F6F6B"/>
            </a:solidFill>
            <a:prstDash val="solid"/>
          </a:ln>
        </p:spPr>
      </p:sp>
      <p:sp>
        <p:nvSpPr>
          <p:cNvPr id="20" name="Shape 17"/>
          <p:cNvSpPr/>
          <p:nvPr/>
        </p:nvSpPr>
        <p:spPr>
          <a:xfrm>
            <a:off x="7040880" y="3392424"/>
            <a:ext cx="2240280" cy="0"/>
          </a:xfrm>
          <a:prstGeom prst="line">
            <a:avLst/>
          </a:prstGeom>
          <a:noFill/>
          <a:ln w="25400">
            <a:solidFill>
              <a:srgbClr val="2F6F6B"/>
            </a:solidFill>
            <a:prstDash val="solid"/>
          </a:ln>
        </p:spPr>
      </p:sp>
      <p:sp>
        <p:nvSpPr>
          <p:cNvPr id="21" name="Shape 18"/>
          <p:cNvSpPr/>
          <p:nvPr/>
        </p:nvSpPr>
        <p:spPr>
          <a:xfrm>
            <a:off x="6675120" y="1783080"/>
            <a:ext cx="365760" cy="365760"/>
          </a:xfrm>
          <a:prstGeom prst="ellipse">
            <a:avLst/>
          </a:prstGeom>
          <a:solidFill>
            <a:srgbClr val="2F6F6B"/>
          </a:solidFill>
          <a:ln/>
        </p:spPr>
      </p:sp>
      <p:sp>
        <p:nvSpPr>
          <p:cNvPr id="22" name="Shape 19"/>
          <p:cNvSpPr/>
          <p:nvPr/>
        </p:nvSpPr>
        <p:spPr>
          <a:xfrm>
            <a:off x="9281160" y="1783080"/>
            <a:ext cx="365760" cy="365760"/>
          </a:xfrm>
          <a:prstGeom prst="roundRect">
            <a:avLst>
              <a:gd name="adj" fmla="val 15000"/>
            </a:avLst>
          </a:prstGeom>
          <a:solidFill>
            <a:srgbClr val="F1F3F5"/>
          </a:solidFill>
          <a:ln w="12700">
            <a:solidFill>
              <a:srgbClr val="CBD5DC"/>
            </a:solidFill>
            <a:prstDash val="solid"/>
          </a:ln>
        </p:spPr>
      </p:sp>
      <p:sp>
        <p:nvSpPr>
          <p:cNvPr id="23" name="Text 20"/>
          <p:cNvSpPr/>
          <p:nvPr/>
        </p:nvSpPr>
        <p:spPr>
          <a:xfrm>
            <a:off x="9281160" y="178308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Calibri" pitchFamily="34" charset="0"/>
                <a:ea typeface="Calibri" pitchFamily="34" charset="-122"/>
                <a:cs typeface="Calibri" pitchFamily="34" charset="-120"/>
              </a:rPr>
              <a:t>1</a:t>
            </a:r>
            <a:endParaRPr lang="en-US" sz="1100" dirty="0"/>
          </a:p>
        </p:txBody>
      </p:sp>
      <p:sp>
        <p:nvSpPr>
          <p:cNvPr id="24" name="Shape 21"/>
          <p:cNvSpPr/>
          <p:nvPr/>
        </p:nvSpPr>
        <p:spPr>
          <a:xfrm>
            <a:off x="6675120" y="2496312"/>
            <a:ext cx="365760" cy="365760"/>
          </a:xfrm>
          <a:prstGeom prst="ellipse">
            <a:avLst/>
          </a:prstGeom>
          <a:solidFill>
            <a:srgbClr val="2F6F6B"/>
          </a:solidFill>
          <a:ln/>
        </p:spPr>
      </p:sp>
      <p:sp>
        <p:nvSpPr>
          <p:cNvPr id="25" name="Shape 22"/>
          <p:cNvSpPr/>
          <p:nvPr/>
        </p:nvSpPr>
        <p:spPr>
          <a:xfrm>
            <a:off x="9281160" y="2496312"/>
            <a:ext cx="365760" cy="365760"/>
          </a:xfrm>
          <a:prstGeom prst="roundRect">
            <a:avLst>
              <a:gd name="adj" fmla="val 15000"/>
            </a:avLst>
          </a:prstGeom>
          <a:solidFill>
            <a:srgbClr val="F1F3F5"/>
          </a:solidFill>
          <a:ln w="12700">
            <a:solidFill>
              <a:srgbClr val="CBD5DC"/>
            </a:solidFill>
            <a:prstDash val="solid"/>
          </a:ln>
        </p:spPr>
      </p:sp>
      <p:sp>
        <p:nvSpPr>
          <p:cNvPr id="26" name="Text 23"/>
          <p:cNvSpPr/>
          <p:nvPr/>
        </p:nvSpPr>
        <p:spPr>
          <a:xfrm>
            <a:off x="9281160" y="2496312"/>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Calibri" pitchFamily="34" charset="0"/>
                <a:ea typeface="Calibri" pitchFamily="34" charset="-122"/>
                <a:cs typeface="Calibri" pitchFamily="34" charset="-120"/>
              </a:rPr>
              <a:t>2</a:t>
            </a:r>
            <a:endParaRPr lang="en-US" sz="1100" dirty="0"/>
          </a:p>
        </p:txBody>
      </p:sp>
      <p:sp>
        <p:nvSpPr>
          <p:cNvPr id="27" name="Shape 24"/>
          <p:cNvSpPr/>
          <p:nvPr/>
        </p:nvSpPr>
        <p:spPr>
          <a:xfrm>
            <a:off x="6675120" y="3209544"/>
            <a:ext cx="365760" cy="365760"/>
          </a:xfrm>
          <a:prstGeom prst="ellipse">
            <a:avLst/>
          </a:prstGeom>
          <a:solidFill>
            <a:srgbClr val="2F6F6B"/>
          </a:solidFill>
          <a:ln/>
        </p:spPr>
      </p:sp>
      <p:sp>
        <p:nvSpPr>
          <p:cNvPr id="28" name="Shape 25"/>
          <p:cNvSpPr/>
          <p:nvPr/>
        </p:nvSpPr>
        <p:spPr>
          <a:xfrm>
            <a:off x="9281160" y="3209544"/>
            <a:ext cx="365760" cy="365760"/>
          </a:xfrm>
          <a:prstGeom prst="roundRect">
            <a:avLst>
              <a:gd name="adj" fmla="val 15000"/>
            </a:avLst>
          </a:prstGeom>
          <a:solidFill>
            <a:srgbClr val="F1F3F5"/>
          </a:solidFill>
          <a:ln w="12700">
            <a:solidFill>
              <a:srgbClr val="CBD5DC"/>
            </a:solidFill>
            <a:prstDash val="solid"/>
          </a:ln>
        </p:spPr>
      </p:sp>
      <p:sp>
        <p:nvSpPr>
          <p:cNvPr id="29" name="Text 26"/>
          <p:cNvSpPr/>
          <p:nvPr/>
        </p:nvSpPr>
        <p:spPr>
          <a:xfrm>
            <a:off x="9281160" y="3209544"/>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Calibri" pitchFamily="34" charset="0"/>
                <a:ea typeface="Calibri" pitchFamily="34" charset="-122"/>
                <a:cs typeface="Calibri" pitchFamily="34" charset="-120"/>
              </a:rPr>
              <a:t>3</a:t>
            </a:r>
            <a:endParaRPr lang="en-US" sz="1100" dirty="0"/>
          </a:p>
        </p:txBody>
      </p:sp>
      <p:sp>
        <p:nvSpPr>
          <p:cNvPr id="30" name="Shape 27"/>
          <p:cNvSpPr/>
          <p:nvPr/>
        </p:nvSpPr>
        <p:spPr>
          <a:xfrm>
            <a:off x="9281160" y="3922776"/>
            <a:ext cx="365760" cy="365760"/>
          </a:xfrm>
          <a:prstGeom prst="roundRect">
            <a:avLst>
              <a:gd name="adj" fmla="val 15000"/>
            </a:avLst>
          </a:prstGeom>
          <a:solidFill>
            <a:srgbClr val="C1440E"/>
          </a:solidFill>
          <a:ln w="12700">
            <a:solidFill>
              <a:srgbClr val="C1440E"/>
            </a:solidFill>
            <a:prstDash val="solid"/>
          </a:ln>
        </p:spPr>
      </p:sp>
      <p:sp>
        <p:nvSpPr>
          <p:cNvPr id="31" name="Text 28"/>
          <p:cNvSpPr/>
          <p:nvPr/>
        </p:nvSpPr>
        <p:spPr>
          <a:xfrm>
            <a:off x="9281160" y="392277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2" name="Text 29"/>
          <p:cNvSpPr/>
          <p:nvPr/>
        </p:nvSpPr>
        <p:spPr>
          <a:xfrm>
            <a:off x="9784080" y="3703320"/>
            <a:ext cx="1828800" cy="822960"/>
          </a:xfrm>
          <a:prstGeom prst="rect">
            <a:avLst/>
          </a:prstGeom>
          <a:noFill/>
          <a:ln/>
        </p:spPr>
        <p:txBody>
          <a:bodyPr wrap="square" lIns="0" tIns="0" rIns="0" bIns="0" rtlCol="0" anchor="ctr"/>
          <a:lstStyle/>
          <a:p>
            <a:pPr indent="0" marL="0">
              <a:buNone/>
            </a:pPr>
            <a:r>
              <a:rPr lang="en-US" sz="1100" dirty="0">
                <a:solidFill>
                  <a:srgbClr val="C1440E"/>
                </a:solidFill>
                <a:latin typeface="Calibri" pitchFamily="34" charset="0"/>
                <a:ea typeface="Calibri" pitchFamily="34" charset="-122"/>
                <a:cs typeface="Calibri" pitchFamily="34" charset="-120"/>
              </a:rPr>
              <a:t>request 4's only compatible</a:t>
            </a:r>
            <a:endParaRPr lang="en-US" sz="1100" dirty="0"/>
          </a:p>
          <a:p>
            <a:pPr indent="0" marL="0">
              <a:buNone/>
            </a:pPr>
            <a:r>
              <a:rPr lang="en-US" sz="1100" dirty="0">
                <a:solidFill>
                  <a:srgbClr val="C1440E"/>
                </a:solidFill>
                <a:latin typeface="Calibri" pitchFamily="34" charset="0"/>
                <a:ea typeface="Calibri" pitchFamily="34" charset="-122"/>
                <a:cs typeface="Calibri" pitchFamily="34" charset="-120"/>
              </a:rPr>
              <a:t>resource was already taken</a:t>
            </a:r>
            <a:endParaRPr lang="en-US" sz="1100" dirty="0"/>
          </a:p>
        </p:txBody>
      </p:sp>
      <p:sp>
        <p:nvSpPr>
          <p:cNvPr id="33" name="Text 30"/>
          <p:cNvSpPr/>
          <p:nvPr/>
        </p:nvSpPr>
        <p:spPr>
          <a:xfrm>
            <a:off x="6675120" y="4489704"/>
            <a:ext cx="4846320" cy="27432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dashed = compatible   ·   solid = matched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BACKGROUND</a:t>
            </a:r>
            <a:endParaRPr lang="en-US" sz="1100" dirty="0"/>
          </a:p>
        </p:txBody>
      </p:sp>
      <p:sp>
        <p:nvSpPr>
          <p:cNvPr id="4"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200" b="1" dirty="0">
                <a:solidFill>
                  <a:srgbClr val="2B3440"/>
                </a:solidFill>
                <a:latin typeface="Cambria" pitchFamily="34" charset="0"/>
                <a:ea typeface="Cambria" pitchFamily="34" charset="-122"/>
                <a:cs typeface="Cambria" pitchFamily="34" charset="-120"/>
              </a:rPr>
              <a:t>Two guarantees, two families of algorithm</a:t>
            </a:r>
            <a:endParaRPr lang="en-US" sz="3200" dirty="0"/>
          </a:p>
        </p:txBody>
      </p:sp>
      <p:sp>
        <p:nvSpPr>
          <p:cNvPr id="5" name="Shape 2"/>
          <p:cNvSpPr/>
          <p:nvPr/>
        </p:nvSpPr>
        <p:spPr>
          <a:xfrm>
            <a:off x="640080" y="1554480"/>
            <a:ext cx="5257800" cy="1234440"/>
          </a:xfrm>
          <a:prstGeom prst="roundRect">
            <a:avLst>
              <a:gd name="adj" fmla="val 5926"/>
            </a:avLst>
          </a:prstGeom>
          <a:solidFill>
            <a:srgbClr val="F1F3F5"/>
          </a:solidFill>
          <a:ln w="12700">
            <a:solidFill>
              <a:srgbClr val="F1F3F5"/>
            </a:solidFill>
            <a:prstDash val="solid"/>
          </a:ln>
        </p:spPr>
      </p:sp>
      <p:sp>
        <p:nvSpPr>
          <p:cNvPr id="6" name="Text 3"/>
          <p:cNvSpPr/>
          <p:nvPr/>
        </p:nvSpPr>
        <p:spPr>
          <a:xfrm>
            <a:off x="932688" y="1691640"/>
            <a:ext cx="2377440" cy="365760"/>
          </a:xfrm>
          <a:prstGeom prst="rect">
            <a:avLst/>
          </a:prstGeom>
          <a:noFill/>
          <a:ln/>
        </p:spPr>
        <p:txBody>
          <a:bodyPr wrap="square" lIns="0" tIns="0" rIns="0" bIns="0" rtlCol="0" anchor="ctr"/>
          <a:lstStyle/>
          <a:p>
            <a:pPr indent="0" marL="0">
              <a:buNone/>
            </a:pPr>
            <a:r>
              <a:rPr lang="en-US" sz="1800" b="1" dirty="0">
                <a:solidFill>
                  <a:srgbClr val="2F6F6B"/>
                </a:solidFill>
                <a:latin typeface="Cambria" pitchFamily="34" charset="0"/>
                <a:ea typeface="Cambria" pitchFamily="34" charset="-122"/>
                <a:cs typeface="Cambria" pitchFamily="34" charset="-120"/>
              </a:rPr>
              <a:t>Consistency</a:t>
            </a:r>
            <a:endParaRPr lang="en-US" sz="1800" dirty="0"/>
          </a:p>
        </p:txBody>
      </p:sp>
      <p:sp>
        <p:nvSpPr>
          <p:cNvPr id="7" name="Text 4"/>
          <p:cNvSpPr/>
          <p:nvPr/>
        </p:nvSpPr>
        <p:spPr>
          <a:xfrm>
            <a:off x="932688" y="2084832"/>
            <a:ext cx="4663440" cy="548640"/>
          </a:xfrm>
          <a:prstGeom prst="rect">
            <a:avLst/>
          </a:prstGeom>
          <a:noFill/>
          <a:ln/>
        </p:spPr>
        <p:txBody>
          <a:bodyPr wrap="square" lIns="0" tIns="0" rIns="0" bIns="0" rtlCol="0" anchor="ctr"/>
          <a:lstStyle/>
          <a:p>
            <a:pPr indent="0" marL="0">
              <a:buNone/>
            </a:pPr>
            <a:r>
              <a:rPr lang="en-US" sz="1400" dirty="0">
                <a:solidFill>
                  <a:srgbClr val="2B3440"/>
                </a:solidFill>
                <a:latin typeface="Calibri" pitchFamily="34" charset="0"/>
                <a:ea typeface="Calibri" pitchFamily="34" charset="-122"/>
                <a:cs typeface="Calibri" pitchFamily="34" charset="-120"/>
              </a:rPr>
              <a:t>near-optimal when the prediction is good</a:t>
            </a:r>
            <a:endParaRPr lang="en-US" sz="1400" dirty="0"/>
          </a:p>
        </p:txBody>
      </p:sp>
      <p:sp>
        <p:nvSpPr>
          <p:cNvPr id="8" name="Shape 5"/>
          <p:cNvSpPr/>
          <p:nvPr/>
        </p:nvSpPr>
        <p:spPr>
          <a:xfrm>
            <a:off x="6263640" y="1554480"/>
            <a:ext cx="5257800" cy="1234440"/>
          </a:xfrm>
          <a:prstGeom prst="roundRect">
            <a:avLst>
              <a:gd name="adj" fmla="val 5926"/>
            </a:avLst>
          </a:prstGeom>
          <a:solidFill>
            <a:srgbClr val="F1F3F5"/>
          </a:solidFill>
          <a:ln w="12700">
            <a:solidFill>
              <a:srgbClr val="F1F3F5"/>
            </a:solidFill>
            <a:prstDash val="solid"/>
          </a:ln>
        </p:spPr>
      </p:sp>
      <p:sp>
        <p:nvSpPr>
          <p:cNvPr id="9" name="Text 6"/>
          <p:cNvSpPr/>
          <p:nvPr/>
        </p:nvSpPr>
        <p:spPr>
          <a:xfrm>
            <a:off x="6556248" y="1691640"/>
            <a:ext cx="2377440" cy="365760"/>
          </a:xfrm>
          <a:prstGeom prst="rect">
            <a:avLst/>
          </a:prstGeom>
          <a:noFill/>
          <a:ln/>
        </p:spPr>
        <p:txBody>
          <a:bodyPr wrap="square" lIns="0" tIns="0" rIns="0" bIns="0" rtlCol="0" anchor="ctr"/>
          <a:lstStyle/>
          <a:p>
            <a:pPr indent="0" marL="0">
              <a:buNone/>
            </a:pPr>
            <a:r>
              <a:rPr lang="en-US" sz="1800" b="1" dirty="0">
                <a:solidFill>
                  <a:srgbClr val="C1440E"/>
                </a:solidFill>
                <a:latin typeface="Cambria" pitchFamily="34" charset="0"/>
                <a:ea typeface="Cambria" pitchFamily="34" charset="-122"/>
                <a:cs typeface="Cambria" pitchFamily="34" charset="-120"/>
              </a:rPr>
              <a:t>Robustness</a:t>
            </a:r>
            <a:endParaRPr lang="en-US" sz="1800" dirty="0"/>
          </a:p>
        </p:txBody>
      </p:sp>
      <p:sp>
        <p:nvSpPr>
          <p:cNvPr id="10" name="Text 7"/>
          <p:cNvSpPr/>
          <p:nvPr/>
        </p:nvSpPr>
        <p:spPr>
          <a:xfrm>
            <a:off x="6556248" y="2084832"/>
            <a:ext cx="4663440" cy="548640"/>
          </a:xfrm>
          <a:prstGeom prst="rect">
            <a:avLst/>
          </a:prstGeom>
          <a:noFill/>
          <a:ln/>
        </p:spPr>
        <p:txBody>
          <a:bodyPr wrap="square" lIns="0" tIns="0" rIns="0" bIns="0" rtlCol="0" anchor="ctr"/>
          <a:lstStyle/>
          <a:p>
            <a:pPr indent="0" marL="0">
              <a:buNone/>
            </a:pPr>
            <a:r>
              <a:rPr lang="en-US" sz="1400" dirty="0">
                <a:solidFill>
                  <a:srgbClr val="2B3440"/>
                </a:solidFill>
                <a:latin typeface="Calibri" pitchFamily="34" charset="0"/>
                <a:ea typeface="Calibri" pitchFamily="34" charset="-122"/>
                <a:cs typeface="Calibri" pitchFamily="34" charset="-120"/>
              </a:rPr>
              <a:t>no worse than a prediction-free algorithm when it is wrong</a:t>
            </a:r>
            <a:endParaRPr lang="en-US" sz="1400" dirty="0"/>
          </a:p>
        </p:txBody>
      </p:sp>
      <p:sp>
        <p:nvSpPr>
          <p:cNvPr id="11" name="Shape 8"/>
          <p:cNvSpPr/>
          <p:nvPr/>
        </p:nvSpPr>
        <p:spPr>
          <a:xfrm>
            <a:off x="640080" y="3108960"/>
            <a:ext cx="5257800" cy="2148840"/>
          </a:xfrm>
          <a:prstGeom prst="roundRect">
            <a:avLst>
              <a:gd name="adj" fmla="val 3404"/>
            </a:avLst>
          </a:prstGeom>
          <a:solidFill>
            <a:srgbClr val="F1F3F5"/>
          </a:solidFill>
          <a:ln w="12700">
            <a:solidFill>
              <a:srgbClr val="F1F3F5"/>
            </a:solidFill>
            <a:prstDash val="solid"/>
          </a:ln>
        </p:spPr>
      </p:sp>
      <p:sp>
        <p:nvSpPr>
          <p:cNvPr id="12" name="Shape 9"/>
          <p:cNvSpPr/>
          <p:nvPr/>
        </p:nvSpPr>
        <p:spPr>
          <a:xfrm>
            <a:off x="932688" y="3319272"/>
            <a:ext cx="457200" cy="457200"/>
          </a:xfrm>
          <a:prstGeom prst="ellipse">
            <a:avLst/>
          </a:prstGeom>
          <a:solidFill>
            <a:srgbClr val="2F6F6B"/>
          </a:solidFill>
          <a:ln/>
        </p:spPr>
      </p:sp>
      <p:sp>
        <p:nvSpPr>
          <p:cNvPr id="13" name="Text 10"/>
          <p:cNvSpPr/>
          <p:nvPr/>
        </p:nvSpPr>
        <p:spPr>
          <a:xfrm>
            <a:off x="932688" y="33192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1"/>
          <p:cNvSpPr/>
          <p:nvPr/>
        </p:nvSpPr>
        <p:spPr>
          <a:xfrm>
            <a:off x="1554480" y="3328416"/>
            <a:ext cx="4114800" cy="411480"/>
          </a:xfrm>
          <a:prstGeom prst="rect">
            <a:avLst/>
          </a:prstGeom>
          <a:noFill/>
          <a:ln/>
        </p:spPr>
        <p:txBody>
          <a:bodyPr wrap="square" lIns="0" tIns="0" rIns="0" bIns="0" rtlCol="0" anchor="ctr"/>
          <a:lstStyle/>
          <a:p>
            <a:pPr indent="0" marL="0">
              <a:buNone/>
            </a:pPr>
            <a:r>
              <a:rPr lang="en-US" sz="1800" b="1" dirty="0">
                <a:solidFill>
                  <a:srgbClr val="2B3440"/>
                </a:solidFill>
                <a:latin typeface="Cambria" pitchFamily="34" charset="0"/>
                <a:ea typeface="Cambria" pitchFamily="34" charset="-122"/>
                <a:cs typeface="Cambria" pitchFamily="34" charset="-120"/>
              </a:rPr>
              <a:t>MinPredictedDegree</a:t>
            </a:r>
            <a:endParaRPr lang="en-US" sz="1800" dirty="0"/>
          </a:p>
        </p:txBody>
      </p:sp>
      <p:sp>
        <p:nvSpPr>
          <p:cNvPr id="15" name="Text 12"/>
          <p:cNvSpPr/>
          <p:nvPr/>
        </p:nvSpPr>
        <p:spPr>
          <a:xfrm>
            <a:off x="932688" y="3950208"/>
            <a:ext cx="4663440" cy="777240"/>
          </a:xfrm>
          <a:prstGeom prst="rect">
            <a:avLst/>
          </a:prstGeom>
          <a:noFill/>
          <a:ln/>
        </p:spPr>
        <p:txBody>
          <a:bodyPr wrap="square" lIns="0" tIns="0" rIns="0" bIns="0" rtlCol="0" anchor="ctr"/>
          <a:lstStyle/>
          <a:p>
            <a:pPr indent="0" marL="0">
              <a:buNone/>
            </a:pPr>
            <a:r>
              <a:rPr lang="en-US" sz="1400" dirty="0">
                <a:solidFill>
                  <a:srgbClr val="2B3440"/>
                </a:solidFill>
                <a:latin typeface="Calibri" pitchFamily="34" charset="0"/>
                <a:ea typeface="Calibri" pitchFamily="34" charset="-122"/>
                <a:cs typeface="Calibri" pitchFamily="34" charset="-120"/>
              </a:rPr>
              <a:t>consumes a prediction of how contended each resource will be, and serves the scarcest first</a:t>
            </a:r>
            <a:endParaRPr lang="en-US" sz="1400" dirty="0"/>
          </a:p>
        </p:txBody>
      </p:sp>
      <p:sp>
        <p:nvSpPr>
          <p:cNvPr id="16" name="Text 13"/>
          <p:cNvSpPr/>
          <p:nvPr/>
        </p:nvSpPr>
        <p:spPr>
          <a:xfrm>
            <a:off x="932688" y="4800600"/>
            <a:ext cx="4663440" cy="3200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prediction: one number per resource</a:t>
            </a:r>
            <a:endParaRPr lang="en-US" sz="1200" dirty="0"/>
          </a:p>
        </p:txBody>
      </p:sp>
      <p:sp>
        <p:nvSpPr>
          <p:cNvPr id="17" name="Shape 14"/>
          <p:cNvSpPr/>
          <p:nvPr/>
        </p:nvSpPr>
        <p:spPr>
          <a:xfrm>
            <a:off x="6263640" y="3108960"/>
            <a:ext cx="5257800" cy="2148840"/>
          </a:xfrm>
          <a:prstGeom prst="roundRect">
            <a:avLst>
              <a:gd name="adj" fmla="val 3404"/>
            </a:avLst>
          </a:prstGeom>
          <a:solidFill>
            <a:srgbClr val="F1F3F5"/>
          </a:solidFill>
          <a:ln w="12700">
            <a:solidFill>
              <a:srgbClr val="F1F3F5"/>
            </a:solidFill>
            <a:prstDash val="solid"/>
          </a:ln>
        </p:spPr>
      </p:sp>
      <p:sp>
        <p:nvSpPr>
          <p:cNvPr id="18" name="Shape 15"/>
          <p:cNvSpPr/>
          <p:nvPr/>
        </p:nvSpPr>
        <p:spPr>
          <a:xfrm>
            <a:off x="6556248" y="3319272"/>
            <a:ext cx="457200" cy="457200"/>
          </a:xfrm>
          <a:prstGeom prst="ellipse">
            <a:avLst/>
          </a:prstGeom>
          <a:solidFill>
            <a:srgbClr val="2F6F6B"/>
          </a:solidFill>
          <a:ln/>
        </p:spPr>
      </p:sp>
      <p:sp>
        <p:nvSpPr>
          <p:cNvPr id="19" name="Text 16"/>
          <p:cNvSpPr/>
          <p:nvPr/>
        </p:nvSpPr>
        <p:spPr>
          <a:xfrm>
            <a:off x="6556248" y="331927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7"/>
          <p:cNvSpPr/>
          <p:nvPr/>
        </p:nvSpPr>
        <p:spPr>
          <a:xfrm>
            <a:off x="7178040" y="3328416"/>
            <a:ext cx="4114800" cy="411480"/>
          </a:xfrm>
          <a:prstGeom prst="rect">
            <a:avLst/>
          </a:prstGeom>
          <a:noFill/>
          <a:ln/>
        </p:spPr>
        <p:txBody>
          <a:bodyPr wrap="square" lIns="0" tIns="0" rIns="0" bIns="0" rtlCol="0" anchor="ctr"/>
          <a:lstStyle/>
          <a:p>
            <a:pPr indent="0" marL="0">
              <a:buNone/>
            </a:pPr>
            <a:r>
              <a:rPr lang="en-US" sz="1800" b="1" dirty="0">
                <a:solidFill>
                  <a:srgbClr val="2B3440"/>
                </a:solidFill>
                <a:latin typeface="Cambria" pitchFamily="34" charset="0"/>
                <a:ea typeface="Cambria" pitchFamily="34" charset="-122"/>
                <a:cs typeface="Cambria" pitchFamily="34" charset="-120"/>
              </a:rPr>
              <a:t>Test-and-fallback</a:t>
            </a:r>
            <a:endParaRPr lang="en-US" sz="1800" dirty="0"/>
          </a:p>
        </p:txBody>
      </p:sp>
      <p:sp>
        <p:nvSpPr>
          <p:cNvPr id="21" name="Text 18"/>
          <p:cNvSpPr/>
          <p:nvPr/>
        </p:nvSpPr>
        <p:spPr>
          <a:xfrm>
            <a:off x="6556248" y="3950208"/>
            <a:ext cx="4663440" cy="777240"/>
          </a:xfrm>
          <a:prstGeom prst="rect">
            <a:avLst/>
          </a:prstGeom>
          <a:noFill/>
          <a:ln/>
        </p:spPr>
        <p:txBody>
          <a:bodyPr wrap="square" lIns="0" tIns="0" rIns="0" bIns="0" rtlCol="0" anchor="ctr"/>
          <a:lstStyle/>
          <a:p>
            <a:pPr indent="0" marL="0">
              <a:buNone/>
            </a:pPr>
            <a:r>
              <a:rPr lang="en-US" sz="1400" dirty="0">
                <a:solidFill>
                  <a:srgbClr val="2B3440"/>
                </a:solidFill>
                <a:latin typeface="Calibri" pitchFamily="34" charset="0"/>
                <a:ea typeface="Calibri" pitchFamily="34" charset="-122"/>
                <a:cs typeface="Calibri" pitchFamily="34" charset="-120"/>
              </a:rPr>
              <a:t>tests a prediction of the arrival mix on a short prefix of the requests, then commits to following it or falling back</a:t>
            </a:r>
            <a:endParaRPr lang="en-US" sz="1400" dirty="0"/>
          </a:p>
        </p:txBody>
      </p:sp>
      <p:sp>
        <p:nvSpPr>
          <p:cNvPr id="22" name="Text 19"/>
          <p:cNvSpPr/>
          <p:nvPr/>
        </p:nvSpPr>
        <p:spPr>
          <a:xfrm>
            <a:off x="6556248" y="4800600"/>
            <a:ext cx="4663440" cy="3200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prediction: a histogram over request types</a:t>
            </a:r>
            <a:endParaRPr lang="en-US" sz="1200" dirty="0"/>
          </a:p>
        </p:txBody>
      </p:sp>
      <p:sp>
        <p:nvSpPr>
          <p:cNvPr id="23" name="Text 20"/>
          <p:cNvSpPr/>
          <p:nvPr/>
        </p:nvSpPr>
        <p:spPr>
          <a:xfrm>
            <a:off x="640080" y="5577840"/>
            <a:ext cx="10881360" cy="548640"/>
          </a:xfrm>
          <a:prstGeom prst="rect">
            <a:avLst/>
          </a:prstGeom>
          <a:noFill/>
          <a:ln/>
        </p:spPr>
        <p:txBody>
          <a:bodyPr wrap="square" lIns="0" tIns="0" rIns="0" bIns="0" rtlCol="0" anchor="ctr"/>
          <a:lstStyle/>
          <a:p>
            <a:pPr indent="0" marL="0">
              <a:buNone/>
            </a:pPr>
            <a:r>
              <a:rPr lang="en-US" sz="1500" b="1" dirty="0">
                <a:solidFill>
                  <a:srgbClr val="2B3440"/>
                </a:solidFill>
                <a:latin typeface="Calibri" pitchFamily="34" charset="0"/>
                <a:ea typeface="Calibri" pitchFamily="34" charset="-122"/>
                <a:cs typeface="Calibri" pitchFamily="34" charset="-120"/>
              </a:rPr>
              <a:t>Both were analysed only in isolation — each on its own inputs, its own notion of prediction error, and almost entirely in worst-case theory.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AIMS AND OBJECTIVES</a:t>
            </a:r>
            <a:endParaRPr lang="en-US" sz="1100" dirty="0"/>
          </a:p>
        </p:txBody>
      </p:sp>
      <p:sp>
        <p:nvSpPr>
          <p:cNvPr id="4"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200" b="1" dirty="0">
                <a:solidFill>
                  <a:srgbClr val="2B3440"/>
                </a:solidFill>
                <a:latin typeface="Cambria" pitchFamily="34" charset="0"/>
                <a:ea typeface="Cambria" pitchFamily="34" charset="-122"/>
                <a:cs typeface="Cambria" pitchFamily="34" charset="-120"/>
              </a:rPr>
              <a:t>Three questions</a:t>
            </a:r>
            <a:endParaRPr lang="en-US" sz="3200" dirty="0"/>
          </a:p>
        </p:txBody>
      </p:sp>
      <p:sp>
        <p:nvSpPr>
          <p:cNvPr id="5" name="Shape 2"/>
          <p:cNvSpPr/>
          <p:nvPr/>
        </p:nvSpPr>
        <p:spPr>
          <a:xfrm>
            <a:off x="640080" y="1600200"/>
            <a:ext cx="10881360" cy="1371600"/>
          </a:xfrm>
          <a:prstGeom prst="roundRect">
            <a:avLst>
              <a:gd name="adj" fmla="val 5333"/>
            </a:avLst>
          </a:prstGeom>
          <a:solidFill>
            <a:srgbClr val="F1F3F5"/>
          </a:solidFill>
          <a:ln w="12700">
            <a:solidFill>
              <a:srgbClr val="F1F3F5"/>
            </a:solidFill>
            <a:prstDash val="solid"/>
          </a:ln>
        </p:spPr>
      </p:sp>
      <p:sp>
        <p:nvSpPr>
          <p:cNvPr id="6" name="Shape 3"/>
          <p:cNvSpPr/>
          <p:nvPr/>
        </p:nvSpPr>
        <p:spPr>
          <a:xfrm>
            <a:off x="960120" y="2057400"/>
            <a:ext cx="457200" cy="457200"/>
          </a:xfrm>
          <a:prstGeom prst="ellipse">
            <a:avLst/>
          </a:prstGeom>
          <a:solidFill>
            <a:srgbClr val="2F6F6B"/>
          </a:solidFill>
          <a:ln/>
        </p:spPr>
      </p:sp>
      <p:sp>
        <p:nvSpPr>
          <p:cNvPr id="7" name="Text 4"/>
          <p:cNvSpPr/>
          <p:nvPr/>
        </p:nvSpPr>
        <p:spPr>
          <a:xfrm>
            <a:off x="960120" y="20574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691640" y="1783080"/>
            <a:ext cx="7772400" cy="1005840"/>
          </a:xfrm>
          <a:prstGeom prst="rect">
            <a:avLst/>
          </a:prstGeom>
          <a:noFill/>
          <a:ln/>
        </p:spPr>
        <p:txBody>
          <a:bodyPr wrap="square" lIns="0" tIns="0" rIns="0" bIns="0" rtlCol="0" anchor="ctr"/>
          <a:lstStyle/>
          <a:p>
            <a:pPr indent="0" marL="0">
              <a:buNone/>
            </a:pPr>
            <a:r>
              <a:rPr lang="en-US" sz="1500" dirty="0">
                <a:solidFill>
                  <a:srgbClr val="2B3440"/>
                </a:solidFill>
                <a:latin typeface="Calibri" pitchFamily="34" charset="0"/>
                <a:ea typeface="Calibri" pitchFamily="34" charset="-122"/>
                <a:cs typeface="Calibri" pitchFamily="34" charset="-120"/>
              </a:rPr>
              <a:t>How do the two families actually compare, head to head, under one prediction-error model — and how much does a prediction buy on realistic data?</a:t>
            </a:r>
            <a:endParaRPr lang="en-US" sz="1500" dirty="0"/>
          </a:p>
        </p:txBody>
      </p:sp>
      <p:sp>
        <p:nvSpPr>
          <p:cNvPr id="9" name="Text 6"/>
          <p:cNvSpPr/>
          <p:nvPr/>
        </p:nvSpPr>
        <p:spPr>
          <a:xfrm>
            <a:off x="9418320" y="1783080"/>
            <a:ext cx="1783080" cy="1005840"/>
          </a:xfrm>
          <a:prstGeom prst="rect">
            <a:avLst/>
          </a:prstGeom>
          <a:noFill/>
          <a:ln/>
        </p:spPr>
        <p:txBody>
          <a:bodyPr wrap="square" lIns="0" tIns="0" rIns="0" bIns="0" rtlCol="0" anchor="ctr"/>
          <a:lstStyle/>
          <a:p>
            <a:pPr algn="r" indent="0" marL="0">
              <a:buNone/>
            </a:pPr>
            <a:r>
              <a:rPr lang="en-US" sz="1200" i="1" dirty="0">
                <a:solidFill>
                  <a:srgbClr val="6B7280"/>
                </a:solidFill>
                <a:latin typeface="Calibri" pitchFamily="34" charset="0"/>
                <a:ea typeface="Calibri" pitchFamily="34" charset="-122"/>
                <a:cs typeface="Calibri" pitchFamily="34" charset="-120"/>
              </a:rPr>
              <a:t>answered experimentally</a:t>
            </a:r>
            <a:endParaRPr lang="en-US" sz="1200" dirty="0"/>
          </a:p>
        </p:txBody>
      </p:sp>
      <p:sp>
        <p:nvSpPr>
          <p:cNvPr id="10" name="Shape 7"/>
          <p:cNvSpPr/>
          <p:nvPr/>
        </p:nvSpPr>
        <p:spPr>
          <a:xfrm>
            <a:off x="640080" y="3172968"/>
            <a:ext cx="10881360" cy="1371600"/>
          </a:xfrm>
          <a:prstGeom prst="roundRect">
            <a:avLst>
              <a:gd name="adj" fmla="val 5333"/>
            </a:avLst>
          </a:prstGeom>
          <a:solidFill>
            <a:srgbClr val="F1F3F5"/>
          </a:solidFill>
          <a:ln w="12700">
            <a:solidFill>
              <a:srgbClr val="F1F3F5"/>
            </a:solidFill>
            <a:prstDash val="solid"/>
          </a:ln>
        </p:spPr>
      </p:sp>
      <p:sp>
        <p:nvSpPr>
          <p:cNvPr id="11" name="Shape 8"/>
          <p:cNvSpPr/>
          <p:nvPr/>
        </p:nvSpPr>
        <p:spPr>
          <a:xfrm>
            <a:off x="960120" y="3630168"/>
            <a:ext cx="457200" cy="457200"/>
          </a:xfrm>
          <a:prstGeom prst="ellipse">
            <a:avLst/>
          </a:prstGeom>
          <a:solidFill>
            <a:srgbClr val="2F6F6B"/>
          </a:solidFill>
          <a:ln/>
        </p:spPr>
      </p:sp>
      <p:sp>
        <p:nvSpPr>
          <p:cNvPr id="12" name="Text 9"/>
          <p:cNvSpPr/>
          <p:nvPr/>
        </p:nvSpPr>
        <p:spPr>
          <a:xfrm>
            <a:off x="960120" y="36301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p:nvPr/>
        </p:nvSpPr>
        <p:spPr>
          <a:xfrm>
            <a:off x="1691640" y="3355848"/>
            <a:ext cx="7772400" cy="1005840"/>
          </a:xfrm>
          <a:prstGeom prst="rect">
            <a:avLst/>
          </a:prstGeom>
          <a:noFill/>
          <a:ln/>
        </p:spPr>
        <p:txBody>
          <a:bodyPr wrap="square" lIns="0" tIns="0" rIns="0" bIns="0" rtlCol="0" anchor="ctr"/>
          <a:lstStyle/>
          <a:p>
            <a:pPr indent="0" marL="0">
              <a:buNone/>
            </a:pPr>
            <a:r>
              <a:rPr lang="en-US" sz="1500" dirty="0">
                <a:solidFill>
                  <a:srgbClr val="2B3440"/>
                </a:solidFill>
                <a:latin typeface="Calibri" pitchFamily="34" charset="0"/>
                <a:ea typeface="Calibri" pitchFamily="34" charset="-122"/>
                <a:cs typeface="Calibri" pitchFamily="34" charset="-120"/>
              </a:rPr>
              <a:t>What are the failure modes of the adaptive test-and-fallback mechanism: the cost of its test, and the calibration of its accept/reject decision?</a:t>
            </a:r>
            <a:endParaRPr lang="en-US" sz="1500" dirty="0"/>
          </a:p>
        </p:txBody>
      </p:sp>
      <p:sp>
        <p:nvSpPr>
          <p:cNvPr id="14" name="Text 11"/>
          <p:cNvSpPr/>
          <p:nvPr/>
        </p:nvSpPr>
        <p:spPr>
          <a:xfrm>
            <a:off x="9418320" y="3355848"/>
            <a:ext cx="1783080" cy="1005840"/>
          </a:xfrm>
          <a:prstGeom prst="rect">
            <a:avLst/>
          </a:prstGeom>
          <a:noFill/>
          <a:ln/>
        </p:spPr>
        <p:txBody>
          <a:bodyPr wrap="square" lIns="0" tIns="0" rIns="0" bIns="0" rtlCol="0" anchor="ctr"/>
          <a:lstStyle/>
          <a:p>
            <a:pPr algn="r" indent="0" marL="0">
              <a:buNone/>
            </a:pPr>
            <a:r>
              <a:rPr lang="en-US" sz="1200" i="1" dirty="0">
                <a:solidFill>
                  <a:srgbClr val="6B7280"/>
                </a:solidFill>
                <a:latin typeface="Calibri" pitchFamily="34" charset="0"/>
                <a:ea typeface="Calibri" pitchFamily="34" charset="-122"/>
                <a:cs typeface="Calibri" pitchFamily="34" charset="-120"/>
              </a:rPr>
              <a:t>answered experimentally</a:t>
            </a:r>
            <a:endParaRPr lang="en-US" sz="1200" dirty="0"/>
          </a:p>
        </p:txBody>
      </p:sp>
      <p:sp>
        <p:nvSpPr>
          <p:cNvPr id="15" name="Shape 12"/>
          <p:cNvSpPr/>
          <p:nvPr/>
        </p:nvSpPr>
        <p:spPr>
          <a:xfrm>
            <a:off x="640080" y="4745736"/>
            <a:ext cx="10881360" cy="1371600"/>
          </a:xfrm>
          <a:prstGeom prst="roundRect">
            <a:avLst>
              <a:gd name="adj" fmla="val 5333"/>
            </a:avLst>
          </a:prstGeom>
          <a:solidFill>
            <a:srgbClr val="F1F3F5"/>
          </a:solidFill>
          <a:ln w="12700">
            <a:solidFill>
              <a:srgbClr val="F1F3F5"/>
            </a:solidFill>
            <a:prstDash val="solid"/>
          </a:ln>
        </p:spPr>
      </p:sp>
      <p:sp>
        <p:nvSpPr>
          <p:cNvPr id="16" name="Shape 13"/>
          <p:cNvSpPr/>
          <p:nvPr/>
        </p:nvSpPr>
        <p:spPr>
          <a:xfrm>
            <a:off x="960120" y="5202936"/>
            <a:ext cx="457200" cy="457200"/>
          </a:xfrm>
          <a:prstGeom prst="ellipse">
            <a:avLst/>
          </a:prstGeom>
          <a:solidFill>
            <a:srgbClr val="C1440E"/>
          </a:solidFill>
          <a:ln/>
        </p:spPr>
      </p:sp>
      <p:sp>
        <p:nvSpPr>
          <p:cNvPr id="17" name="Text 14"/>
          <p:cNvSpPr/>
          <p:nvPr/>
        </p:nvSpPr>
        <p:spPr>
          <a:xfrm>
            <a:off x="960120" y="520293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5"/>
          <p:cNvSpPr/>
          <p:nvPr/>
        </p:nvSpPr>
        <p:spPr>
          <a:xfrm>
            <a:off x="1691640" y="4928616"/>
            <a:ext cx="7772400" cy="1005840"/>
          </a:xfrm>
          <a:prstGeom prst="rect">
            <a:avLst/>
          </a:prstGeom>
          <a:noFill/>
          <a:ln/>
        </p:spPr>
        <p:txBody>
          <a:bodyPr wrap="square" lIns="0" tIns="0" rIns="0" bIns="0" rtlCol="0" anchor="ctr"/>
          <a:lstStyle/>
          <a:p>
            <a:pPr indent="0" marL="0">
              <a:buNone/>
            </a:pPr>
            <a:r>
              <a:rPr lang="en-US" sz="1500" dirty="0">
                <a:solidFill>
                  <a:srgbClr val="2B3440"/>
                </a:solidFill>
                <a:latin typeface="Calibri" pitchFamily="34" charset="0"/>
                <a:ea typeface="Calibri" pitchFamily="34" charset="-122"/>
                <a:cs typeface="Calibri" pitchFamily="34" charset="-120"/>
              </a:rPr>
              <a:t>Why does the average-case experience differ so sharply from the worst-case promise — is the wall an artefact, or is it necessary?</a:t>
            </a:r>
            <a:endParaRPr lang="en-US" sz="1500" dirty="0"/>
          </a:p>
        </p:txBody>
      </p:sp>
      <p:sp>
        <p:nvSpPr>
          <p:cNvPr id="19" name="Text 16"/>
          <p:cNvSpPr/>
          <p:nvPr/>
        </p:nvSpPr>
        <p:spPr>
          <a:xfrm>
            <a:off x="9418320" y="4928616"/>
            <a:ext cx="1783080" cy="1005840"/>
          </a:xfrm>
          <a:prstGeom prst="rect">
            <a:avLst/>
          </a:prstGeom>
          <a:noFill/>
          <a:ln/>
        </p:spPr>
        <p:txBody>
          <a:bodyPr wrap="square" lIns="0" tIns="0" rIns="0" bIns="0" rtlCol="0" anchor="ctr"/>
          <a:lstStyle/>
          <a:p>
            <a:pPr algn="r" indent="0" marL="0">
              <a:buNone/>
            </a:pPr>
            <a:r>
              <a:rPr lang="en-US" sz="1200" i="1" dirty="0">
                <a:solidFill>
                  <a:srgbClr val="C1440E"/>
                </a:solidFill>
                <a:latin typeface="Calibri" pitchFamily="34" charset="0"/>
                <a:ea typeface="Calibri" pitchFamily="34" charset="-122"/>
                <a:cs typeface="Calibri" pitchFamily="34" charset="-120"/>
              </a:rPr>
              <a:t>answered in outlook form</a:t>
            </a:r>
            <a:endParaRPr lang="en-US" sz="1200" dirty="0"/>
          </a:p>
        </p:txBody>
      </p:sp>
      <p:sp>
        <p:nvSpPr>
          <p:cNvPr id="20" name="Text 17"/>
          <p:cNvSpPr/>
          <p:nvPr/>
        </p:nvSpPr>
        <p:spPr>
          <a:xfrm>
            <a:off x="640080" y="6172200"/>
            <a:ext cx="1088136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The first two are answered experimentally; the third in outlook form, and I say exactly how far that goes.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METHOD</a:t>
            </a:r>
            <a:endParaRPr lang="en-US" sz="1100" dirty="0"/>
          </a:p>
        </p:txBody>
      </p:sp>
      <p:sp>
        <p:nvSpPr>
          <p:cNvPr id="4"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200" b="1" dirty="0">
                <a:solidFill>
                  <a:srgbClr val="2B3440"/>
                </a:solidFill>
                <a:latin typeface="Cambria" pitchFamily="34" charset="0"/>
                <a:ea typeface="Cambria" pitchFamily="34" charset="-122"/>
                <a:cs typeface="Cambria" pitchFamily="34" charset="-120"/>
              </a:rPr>
              <a:t>One harness: only the prediction varies</a:t>
            </a:r>
            <a:endParaRPr lang="en-US" sz="3200" dirty="0"/>
          </a:p>
        </p:txBody>
      </p:sp>
      <p:sp>
        <p:nvSpPr>
          <p:cNvPr id="5" name="Shape 2"/>
          <p:cNvSpPr/>
          <p:nvPr/>
        </p:nvSpPr>
        <p:spPr>
          <a:xfrm>
            <a:off x="640080" y="1600200"/>
            <a:ext cx="384048" cy="384048"/>
          </a:xfrm>
          <a:prstGeom prst="ellipse">
            <a:avLst/>
          </a:prstGeom>
          <a:solidFill>
            <a:srgbClr val="2F6F6B"/>
          </a:solidFill>
          <a:ln/>
        </p:spPr>
      </p:sp>
      <p:sp>
        <p:nvSpPr>
          <p:cNvPr id="6" name="Text 3"/>
          <p:cNvSpPr/>
          <p:nvPr/>
        </p:nvSpPr>
        <p:spPr>
          <a:xfrm>
            <a:off x="64008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4"/>
          <p:cNvSpPr/>
          <p:nvPr/>
        </p:nvSpPr>
        <p:spPr>
          <a:xfrm>
            <a:off x="1188720" y="1572768"/>
            <a:ext cx="2743200" cy="329184"/>
          </a:xfrm>
          <a:prstGeom prst="rect">
            <a:avLst/>
          </a:prstGeom>
          <a:noFill/>
          <a:ln/>
        </p:spPr>
        <p:txBody>
          <a:bodyPr wrap="square" lIns="0" tIns="0" rIns="0" bIns="0" rtlCol="0" anchor="ctr"/>
          <a:lstStyle/>
          <a:p>
            <a:pPr indent="0" marL="0">
              <a:buNone/>
            </a:pPr>
            <a:r>
              <a:rPr lang="en-US" sz="1600" b="1" dirty="0">
                <a:solidFill>
                  <a:srgbClr val="2B3440"/>
                </a:solidFill>
                <a:latin typeface="Cambria" pitchFamily="34" charset="0"/>
                <a:ea typeface="Cambria" pitchFamily="34" charset="-122"/>
                <a:cs typeface="Cambria" pitchFamily="34" charset="-120"/>
              </a:rPr>
              <a:t>Same instances</a:t>
            </a:r>
            <a:endParaRPr lang="en-US" sz="1600" dirty="0"/>
          </a:p>
        </p:txBody>
      </p:sp>
      <p:sp>
        <p:nvSpPr>
          <p:cNvPr id="8" name="Text 5"/>
          <p:cNvSpPr/>
          <p:nvPr/>
        </p:nvSpPr>
        <p:spPr>
          <a:xfrm>
            <a:off x="1188720" y="1911096"/>
            <a:ext cx="6035040" cy="6858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identical graphs, arrival sequences, offline optimum (Hopcroft–Karp) and paired random streams for every algorithm</a:t>
            </a:r>
            <a:endParaRPr lang="en-US" sz="1300" dirty="0"/>
          </a:p>
        </p:txBody>
      </p:sp>
      <p:sp>
        <p:nvSpPr>
          <p:cNvPr id="9" name="Shape 6"/>
          <p:cNvSpPr/>
          <p:nvPr/>
        </p:nvSpPr>
        <p:spPr>
          <a:xfrm>
            <a:off x="640080" y="2679192"/>
            <a:ext cx="384048" cy="384048"/>
          </a:xfrm>
          <a:prstGeom prst="ellipse">
            <a:avLst/>
          </a:prstGeom>
          <a:solidFill>
            <a:srgbClr val="2F6F6B"/>
          </a:solidFill>
          <a:ln/>
        </p:spPr>
      </p:sp>
      <p:sp>
        <p:nvSpPr>
          <p:cNvPr id="10" name="Text 7"/>
          <p:cNvSpPr/>
          <p:nvPr/>
        </p:nvSpPr>
        <p:spPr>
          <a:xfrm>
            <a:off x="640080" y="26791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1188720" y="2651760"/>
            <a:ext cx="2743200" cy="329184"/>
          </a:xfrm>
          <a:prstGeom prst="rect">
            <a:avLst/>
          </a:prstGeom>
          <a:noFill/>
          <a:ln/>
        </p:spPr>
        <p:txBody>
          <a:bodyPr wrap="square" lIns="0" tIns="0" rIns="0" bIns="0" rtlCol="0" anchor="ctr"/>
          <a:lstStyle/>
          <a:p>
            <a:pPr indent="0" marL="0">
              <a:buNone/>
            </a:pPr>
            <a:r>
              <a:rPr lang="en-US" sz="1600" b="1" dirty="0">
                <a:solidFill>
                  <a:srgbClr val="2B3440"/>
                </a:solidFill>
                <a:latin typeface="Cambria" pitchFamily="34" charset="0"/>
                <a:ea typeface="Cambria" pitchFamily="34" charset="-122"/>
                <a:cs typeface="Cambria" pitchFamily="34" charset="-120"/>
              </a:rPr>
              <a:t>Structured error</a:t>
            </a:r>
            <a:endParaRPr lang="en-US" sz="1600" dirty="0"/>
          </a:p>
        </p:txBody>
      </p:sp>
      <p:sp>
        <p:nvSpPr>
          <p:cNvPr id="12" name="Text 9"/>
          <p:cNvSpPr/>
          <p:nvPr/>
        </p:nvSpPr>
        <p:spPr>
          <a:xfrm>
            <a:off x="1188720" y="2990088"/>
            <a:ext cx="6035040" cy="6858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four error models injected along the structure of the instance, not as i.i.d. noise</a:t>
            </a:r>
            <a:endParaRPr lang="en-US" sz="1300" dirty="0"/>
          </a:p>
        </p:txBody>
      </p:sp>
      <p:sp>
        <p:nvSpPr>
          <p:cNvPr id="13" name="Shape 10"/>
          <p:cNvSpPr/>
          <p:nvPr/>
        </p:nvSpPr>
        <p:spPr>
          <a:xfrm>
            <a:off x="640080" y="3758184"/>
            <a:ext cx="384048" cy="384048"/>
          </a:xfrm>
          <a:prstGeom prst="ellipse">
            <a:avLst/>
          </a:prstGeom>
          <a:solidFill>
            <a:srgbClr val="2F6F6B"/>
          </a:solidFill>
          <a:ln/>
        </p:spPr>
      </p:sp>
      <p:sp>
        <p:nvSpPr>
          <p:cNvPr id="14" name="Text 11"/>
          <p:cNvSpPr/>
          <p:nvPr/>
        </p:nvSpPr>
        <p:spPr>
          <a:xfrm>
            <a:off x="640080" y="37581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188720" y="3730752"/>
            <a:ext cx="2743200" cy="329184"/>
          </a:xfrm>
          <a:prstGeom prst="rect">
            <a:avLst/>
          </a:prstGeom>
          <a:noFill/>
          <a:ln/>
        </p:spPr>
        <p:txBody>
          <a:bodyPr wrap="square" lIns="0" tIns="0" rIns="0" bIns="0" rtlCol="0" anchor="ctr"/>
          <a:lstStyle/>
          <a:p>
            <a:pPr indent="0" marL="0">
              <a:buNone/>
            </a:pPr>
            <a:r>
              <a:rPr lang="en-US" sz="1600" b="1" dirty="0">
                <a:solidFill>
                  <a:srgbClr val="2B3440"/>
                </a:solidFill>
                <a:latin typeface="Cambria" pitchFamily="34" charset="0"/>
                <a:ea typeface="Cambria" pitchFamily="34" charset="-122"/>
                <a:cs typeface="Cambria" pitchFamily="34" charset="-120"/>
              </a:rPr>
              <a:t>Stated uncertainty</a:t>
            </a:r>
            <a:endParaRPr lang="en-US" sz="1600" dirty="0"/>
          </a:p>
        </p:txBody>
      </p:sp>
      <p:sp>
        <p:nvSpPr>
          <p:cNvPr id="16" name="Text 13"/>
          <p:cNvSpPr/>
          <p:nvPr/>
        </p:nvSpPr>
        <p:spPr>
          <a:xfrm>
            <a:off x="1188720" y="4069080"/>
            <a:ext cx="6035040" cy="6858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paired trials, 95% confidence intervals on every reported ratio</a:t>
            </a:r>
            <a:endParaRPr lang="en-US" sz="1300" dirty="0"/>
          </a:p>
        </p:txBody>
      </p:sp>
      <p:sp>
        <p:nvSpPr>
          <p:cNvPr id="17" name="Shape 14"/>
          <p:cNvSpPr/>
          <p:nvPr/>
        </p:nvSpPr>
        <p:spPr>
          <a:xfrm>
            <a:off x="640080" y="4837176"/>
            <a:ext cx="384048" cy="384048"/>
          </a:xfrm>
          <a:prstGeom prst="ellipse">
            <a:avLst/>
          </a:prstGeom>
          <a:solidFill>
            <a:srgbClr val="2F6F6B"/>
          </a:solidFill>
          <a:ln/>
        </p:spPr>
      </p:sp>
      <p:sp>
        <p:nvSpPr>
          <p:cNvPr id="18" name="Text 15"/>
          <p:cNvSpPr/>
          <p:nvPr/>
        </p:nvSpPr>
        <p:spPr>
          <a:xfrm>
            <a:off x="640080" y="4837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6"/>
          <p:cNvSpPr/>
          <p:nvPr/>
        </p:nvSpPr>
        <p:spPr>
          <a:xfrm>
            <a:off x="1188720" y="4809744"/>
            <a:ext cx="2743200" cy="329184"/>
          </a:xfrm>
          <a:prstGeom prst="rect">
            <a:avLst/>
          </a:prstGeom>
          <a:noFill/>
          <a:ln/>
        </p:spPr>
        <p:txBody>
          <a:bodyPr wrap="square" lIns="0" tIns="0" rIns="0" bIns="0" rtlCol="0" anchor="ctr"/>
          <a:lstStyle/>
          <a:p>
            <a:pPr indent="0" marL="0">
              <a:buNone/>
            </a:pPr>
            <a:r>
              <a:rPr lang="en-US" sz="1600" b="1" dirty="0">
                <a:solidFill>
                  <a:srgbClr val="2B3440"/>
                </a:solidFill>
                <a:latin typeface="Cambria" pitchFamily="34" charset="0"/>
                <a:ea typeface="Cambria" pitchFamily="34" charset="-122"/>
                <a:cs typeface="Cambria" pitchFamily="34" charset="-120"/>
              </a:rPr>
              <a:t>Reproducible</a:t>
            </a:r>
            <a:endParaRPr lang="en-US" sz="1600" dirty="0"/>
          </a:p>
        </p:txBody>
      </p:sp>
      <p:sp>
        <p:nvSpPr>
          <p:cNvPr id="20" name="Text 17"/>
          <p:cNvSpPr/>
          <p:nvPr/>
        </p:nvSpPr>
        <p:spPr>
          <a:xfrm>
            <a:off x="1188720" y="5148072"/>
            <a:ext cx="6035040" cy="6858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every figure and table regenerated from a fixed seed by one script</a:t>
            </a:r>
            <a:endParaRPr lang="en-US" sz="1300" dirty="0"/>
          </a:p>
        </p:txBody>
      </p:sp>
      <p:sp>
        <p:nvSpPr>
          <p:cNvPr id="21" name="Shape 18"/>
          <p:cNvSpPr/>
          <p:nvPr/>
        </p:nvSpPr>
        <p:spPr>
          <a:xfrm>
            <a:off x="7635240" y="1600200"/>
            <a:ext cx="3886200" cy="4206240"/>
          </a:xfrm>
          <a:prstGeom prst="roundRect">
            <a:avLst>
              <a:gd name="adj" fmla="val 1882"/>
            </a:avLst>
          </a:prstGeom>
          <a:solidFill>
            <a:srgbClr val="F1F3F5"/>
          </a:solidFill>
          <a:ln w="12700">
            <a:solidFill>
              <a:srgbClr val="F1F3F5"/>
            </a:solidFill>
            <a:prstDash val="solid"/>
          </a:ln>
        </p:spPr>
      </p:sp>
      <p:sp>
        <p:nvSpPr>
          <p:cNvPr id="22" name="Text 19"/>
          <p:cNvSpPr/>
          <p:nvPr/>
        </p:nvSpPr>
        <p:spPr>
          <a:xfrm>
            <a:off x="7936992" y="1810512"/>
            <a:ext cx="3291840" cy="365760"/>
          </a:xfrm>
          <a:prstGeom prst="rect">
            <a:avLst/>
          </a:prstGeom>
          <a:noFill/>
          <a:ln/>
        </p:spPr>
        <p:txBody>
          <a:bodyPr wrap="square" lIns="0" tIns="0" rIns="0" bIns="0" rtlCol="0" anchor="ctr"/>
          <a:lstStyle/>
          <a:p>
            <a:pPr indent="0" marL="0">
              <a:buNone/>
            </a:pPr>
            <a:r>
              <a:rPr lang="en-US" sz="1800" b="1" dirty="0">
                <a:solidFill>
                  <a:srgbClr val="2B3440"/>
                </a:solidFill>
                <a:latin typeface="Cambria" pitchFamily="34" charset="0"/>
                <a:ea typeface="Cambria" pitchFamily="34" charset="-122"/>
                <a:cs typeface="Cambria" pitchFamily="34" charset="-120"/>
              </a:rPr>
              <a:t>Validated before use</a:t>
            </a:r>
            <a:endParaRPr lang="en-US" sz="1800" dirty="0"/>
          </a:p>
        </p:txBody>
      </p:sp>
      <p:sp>
        <p:nvSpPr>
          <p:cNvPr id="23" name="Text 20"/>
          <p:cNvSpPr/>
          <p:nvPr/>
        </p:nvSpPr>
        <p:spPr>
          <a:xfrm>
            <a:off x="7936992" y="2240280"/>
            <a:ext cx="3291840" cy="1097280"/>
          </a:xfrm>
          <a:prstGeom prst="rect">
            <a:avLst/>
          </a:prstGeom>
          <a:noFill/>
          <a:ln/>
        </p:spPr>
        <p:txBody>
          <a:bodyPr wrap="square" lIns="0" tIns="0" rIns="0" bIns="0" rtlCol="0" anchor="ctr"/>
          <a:lstStyle/>
          <a:p>
            <a:pPr indent="0" marL="0">
              <a:buNone/>
            </a:pPr>
            <a:r>
              <a:rPr lang="en-US" sz="1350" dirty="0">
                <a:solidFill>
                  <a:srgbClr val="2B3440"/>
                </a:solidFill>
                <a:latin typeface="Calibri" pitchFamily="34" charset="0"/>
                <a:ea typeface="Calibri" pitchFamily="34" charset="-122"/>
                <a:cs typeface="Calibri" pitchFamily="34" charset="-120"/>
              </a:rPr>
              <a:t>I reproduced the published experimental study of Borodin, Karavasilis and Pankratov before adding any prediction-based work.</a:t>
            </a:r>
            <a:endParaRPr lang="en-US" sz="1350" dirty="0"/>
          </a:p>
        </p:txBody>
      </p:sp>
      <p:sp>
        <p:nvSpPr>
          <p:cNvPr id="24" name="Text 21"/>
          <p:cNvSpPr/>
          <p:nvPr/>
        </p:nvSpPr>
        <p:spPr>
          <a:xfrm>
            <a:off x="7936992" y="3429000"/>
            <a:ext cx="3291840" cy="731520"/>
          </a:xfrm>
          <a:prstGeom prst="rect">
            <a:avLst/>
          </a:prstGeom>
          <a:noFill/>
          <a:ln/>
        </p:spPr>
        <p:txBody>
          <a:bodyPr wrap="square" lIns="0" tIns="0" rIns="0" bIns="0" rtlCol="0" anchor="ctr"/>
          <a:lstStyle/>
          <a:p>
            <a:pPr indent="0" marL="0">
              <a:buNone/>
            </a:pPr>
            <a:r>
              <a:rPr lang="en-US" sz="4200" b="1" dirty="0">
                <a:solidFill>
                  <a:srgbClr val="2F6F6B"/>
                </a:solidFill>
                <a:latin typeface="Cambria" pitchFamily="34" charset="0"/>
                <a:ea typeface="Cambria" pitchFamily="34" charset="-122"/>
                <a:cs typeface="Cambria" pitchFamily="34" charset="-120"/>
              </a:rPr>
              <a:t>5 / 5</a:t>
            </a:r>
            <a:endParaRPr lang="en-US" sz="4200" dirty="0"/>
          </a:p>
        </p:txBody>
      </p:sp>
      <p:sp>
        <p:nvSpPr>
          <p:cNvPr id="25" name="Text 22"/>
          <p:cNvSpPr/>
          <p:nvPr/>
        </p:nvSpPr>
        <p:spPr>
          <a:xfrm>
            <a:off x="7936992" y="4206240"/>
            <a:ext cx="3291840" cy="137160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qualitative claims reproduced, all within an absolute difference of 0.02 — despite a different language and a different max-flow routine.</a:t>
            </a:r>
            <a:endParaRPr lang="en-US" sz="1250" dirty="0"/>
          </a:p>
        </p:txBody>
      </p:sp>
      <p:sp>
        <p:nvSpPr>
          <p:cNvPr id="26" name="Text 23"/>
          <p:cNvSpPr/>
          <p:nvPr/>
        </p:nvSpPr>
        <p:spPr>
          <a:xfrm>
            <a:off x="640080" y="6035040"/>
            <a:ext cx="10881360" cy="457200"/>
          </a:xfrm>
          <a:prstGeom prst="rect">
            <a:avLst/>
          </a:prstGeom>
          <a:noFill/>
          <a:ln/>
        </p:spPr>
        <p:txBody>
          <a:bodyPr wrap="square" lIns="0" tIns="0" rIns="0" bIns="0" rtlCol="0" anchor="ctr"/>
          <a:lstStyle/>
          <a:p>
            <a:pPr indent="0" marL="0">
              <a:buNone/>
            </a:pPr>
            <a:r>
              <a:rPr lang="en-US" sz="1400" i="1" dirty="0">
                <a:solidFill>
                  <a:srgbClr val="2F6F6B"/>
                </a:solidFill>
                <a:latin typeface="Calibri" pitchFamily="34" charset="0"/>
                <a:ea typeface="Calibri" pitchFamily="34" charset="-122"/>
                <a:cs typeface="Calibri" pitchFamily="34" charset="-120"/>
              </a:rPr>
              <a:t>Run on synthetic families, six real-world graphs, and real request traces (Wikipedia, Azure, Mooncake).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FINDING 1  ·  THE UNIFIED BENCHMARK</a:t>
            </a:r>
            <a:endParaRPr lang="en-US" sz="1100" dirty="0"/>
          </a:p>
        </p:txBody>
      </p:sp>
      <p:sp>
        <p:nvSpPr>
          <p:cNvPr id="4"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200" b="1" dirty="0">
                <a:solidFill>
                  <a:srgbClr val="2B3440"/>
                </a:solidFill>
                <a:latin typeface="Cambria" pitchFamily="34" charset="0"/>
                <a:ea typeface="Cambria" pitchFamily="34" charset="-122"/>
                <a:cs typeface="Cambria" pitchFamily="34" charset="-120"/>
              </a:rPr>
              <a:t>Every wide gap is a downside gap</a:t>
            </a:r>
            <a:endParaRPr lang="en-US" sz="3200" dirty="0"/>
          </a:p>
        </p:txBody>
      </p:sp>
      <p:sp>
        <p:nvSpPr>
          <p:cNvPr id="5" name="Text 2"/>
          <p:cNvSpPr/>
          <p:nvPr/>
        </p:nvSpPr>
        <p:spPr>
          <a:xfrm>
            <a:off x="640080" y="1371600"/>
            <a:ext cx="10881360" cy="292608"/>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Consistency–robustness plane: up and to the right is better, and the star marks the advice-free floor.</a:t>
            </a:r>
            <a:endParaRPr lang="en-US" sz="1250" dirty="0"/>
          </a:p>
        </p:txBody>
      </p:sp>
      <p:pic>
        <p:nvPicPr>
          <p:cNvPr id="6" name="Image 0" descr="/Users/lizhuolun/Desktop/TB-3/matching-experiments/results/consistency_robustness.png">    </p:cNvPr>
          <p:cNvPicPr>
            <a:picLocks noChangeAspect="1"/>
          </p:cNvPicPr>
          <p:nvPr/>
        </p:nvPicPr>
        <p:blipFill>
          <a:blip r:embed="rId1"/>
          <a:stretch>
            <a:fillRect/>
          </a:stretch>
        </p:blipFill>
        <p:spPr>
          <a:xfrm>
            <a:off x="640583" y="1691640"/>
            <a:ext cx="10880354" cy="3209544"/>
          </a:xfrm>
          <a:prstGeom prst="rect">
            <a:avLst/>
          </a:prstGeom>
        </p:spPr>
      </p:pic>
      <p:sp>
        <p:nvSpPr>
          <p:cNvPr id="7" name="Text 3"/>
          <p:cNvSpPr/>
          <p:nvPr/>
        </p:nvSpPr>
        <p:spPr>
          <a:xfrm>
            <a:off x="640080" y="5074920"/>
            <a:ext cx="2560320" cy="713232"/>
          </a:xfrm>
          <a:prstGeom prst="rect">
            <a:avLst/>
          </a:prstGeom>
          <a:noFill/>
          <a:ln/>
        </p:spPr>
        <p:txBody>
          <a:bodyPr wrap="square" lIns="0" tIns="0" rIns="0" bIns="0" rtlCol="0" anchor="ctr"/>
          <a:lstStyle/>
          <a:p>
            <a:pPr indent="0" marL="0">
              <a:buNone/>
            </a:pPr>
            <a:r>
              <a:rPr lang="en-US" sz="3800" b="1" dirty="0">
                <a:solidFill>
                  <a:srgbClr val="2B3440"/>
                </a:solidFill>
                <a:latin typeface="Cambria" pitchFamily="34" charset="0"/>
                <a:ea typeface="Cambria" pitchFamily="34" charset="-122"/>
                <a:cs typeface="Cambria" pitchFamily="34" charset="-120"/>
              </a:rPr>
              <a:t>0.990</a:t>
            </a:r>
            <a:endParaRPr lang="en-US" sz="3800" dirty="0"/>
          </a:p>
        </p:txBody>
      </p:sp>
      <p:sp>
        <p:nvSpPr>
          <p:cNvPr id="8" name="Text 4"/>
          <p:cNvSpPr/>
          <p:nvPr/>
        </p:nvSpPr>
        <p:spPr>
          <a:xfrm>
            <a:off x="640080" y="5769864"/>
            <a:ext cx="2560320" cy="56692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advice-free Ranking</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already reaches</a:t>
            </a:r>
            <a:endParaRPr lang="en-US" sz="1200" dirty="0"/>
          </a:p>
        </p:txBody>
      </p:sp>
      <p:sp>
        <p:nvSpPr>
          <p:cNvPr id="9" name="Text 5"/>
          <p:cNvSpPr/>
          <p:nvPr/>
        </p:nvSpPr>
        <p:spPr>
          <a:xfrm>
            <a:off x="3360420" y="5074920"/>
            <a:ext cx="2560320" cy="713232"/>
          </a:xfrm>
          <a:prstGeom prst="rect">
            <a:avLst/>
          </a:prstGeom>
          <a:noFill/>
          <a:ln/>
        </p:spPr>
        <p:txBody>
          <a:bodyPr wrap="square" lIns="0" tIns="0" rIns="0" bIns="0" rtlCol="0" anchor="ctr"/>
          <a:lstStyle/>
          <a:p>
            <a:pPr indent="0" marL="0">
              <a:buNone/>
            </a:pPr>
            <a:r>
              <a:rPr lang="en-US" sz="3800" b="1" dirty="0">
                <a:solidFill>
                  <a:srgbClr val="2F6F6B"/>
                </a:solidFill>
                <a:latin typeface="Cambria" pitchFamily="34" charset="0"/>
                <a:ea typeface="Cambria" pitchFamily="34" charset="-122"/>
                <a:cs typeface="Cambria" pitchFamily="34" charset="-120"/>
              </a:rPr>
              <a:t>0.009</a:t>
            </a:r>
            <a:endParaRPr lang="en-US" sz="3800" dirty="0"/>
          </a:p>
        </p:txBody>
      </p:sp>
      <p:sp>
        <p:nvSpPr>
          <p:cNvPr id="10" name="Text 6"/>
          <p:cNvSpPr/>
          <p:nvPr/>
        </p:nvSpPr>
        <p:spPr>
          <a:xfrm>
            <a:off x="3360420" y="5769864"/>
            <a:ext cx="2560320" cy="56692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total headroom left</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for perfect advice</a:t>
            </a:r>
            <a:endParaRPr lang="en-US" sz="1200" dirty="0"/>
          </a:p>
        </p:txBody>
      </p:sp>
      <p:sp>
        <p:nvSpPr>
          <p:cNvPr id="11" name="Text 7"/>
          <p:cNvSpPr/>
          <p:nvPr/>
        </p:nvSpPr>
        <p:spPr>
          <a:xfrm>
            <a:off x="6080760" y="5074920"/>
            <a:ext cx="2560320" cy="713232"/>
          </a:xfrm>
          <a:prstGeom prst="rect">
            <a:avLst/>
          </a:prstGeom>
          <a:noFill/>
          <a:ln/>
        </p:spPr>
        <p:txBody>
          <a:bodyPr wrap="square" lIns="0" tIns="0" rIns="0" bIns="0" rtlCol="0" anchor="ctr"/>
          <a:lstStyle/>
          <a:p>
            <a:pPr indent="0" marL="0">
              <a:buNone/>
            </a:pPr>
            <a:r>
              <a:rPr lang="en-US" sz="3800" b="1" dirty="0">
                <a:solidFill>
                  <a:srgbClr val="C1440E"/>
                </a:solidFill>
                <a:latin typeface="Cambria" pitchFamily="34" charset="0"/>
                <a:ea typeface="Cambria" pitchFamily="34" charset="-122"/>
                <a:cs typeface="Cambria" pitchFamily="34" charset="-120"/>
              </a:rPr>
              <a:t>0.472</a:t>
            </a:r>
            <a:endParaRPr lang="en-US" sz="3800" dirty="0"/>
          </a:p>
        </p:txBody>
      </p:sp>
      <p:sp>
        <p:nvSpPr>
          <p:cNvPr id="12" name="Text 8"/>
          <p:cNvSpPr/>
          <p:nvPr/>
        </p:nvSpPr>
        <p:spPr>
          <a:xfrm>
            <a:off x="6080760" y="5769864"/>
            <a:ext cx="2560320" cy="56692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unguarded prediction-</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following collapses to</a:t>
            </a:r>
            <a:endParaRPr lang="en-US" sz="1200" dirty="0"/>
          </a:p>
        </p:txBody>
      </p:sp>
      <p:sp>
        <p:nvSpPr>
          <p:cNvPr id="13" name="Text 9"/>
          <p:cNvSpPr/>
          <p:nvPr/>
        </p:nvSpPr>
        <p:spPr>
          <a:xfrm>
            <a:off x="8801100" y="5074920"/>
            <a:ext cx="2560320" cy="713232"/>
          </a:xfrm>
          <a:prstGeom prst="rect">
            <a:avLst/>
          </a:prstGeom>
          <a:noFill/>
          <a:ln/>
        </p:spPr>
        <p:txBody>
          <a:bodyPr wrap="square" lIns="0" tIns="0" rIns="0" bIns="0" rtlCol="0" anchor="ctr"/>
          <a:lstStyle/>
          <a:p>
            <a:pPr indent="0" marL="0">
              <a:buNone/>
            </a:pPr>
            <a:r>
              <a:rPr lang="en-US" sz="3800" b="1" dirty="0">
                <a:solidFill>
                  <a:srgbClr val="2F6F6B"/>
                </a:solidFill>
                <a:latin typeface="Cambria" pitchFamily="34" charset="0"/>
                <a:ea typeface="Cambria" pitchFamily="34" charset="-122"/>
                <a:cs typeface="Cambria" pitchFamily="34" charset="-120"/>
              </a:rPr>
              <a:t>0.990</a:t>
            </a:r>
            <a:endParaRPr lang="en-US" sz="3800" dirty="0"/>
          </a:p>
        </p:txBody>
      </p:sp>
      <p:sp>
        <p:nvSpPr>
          <p:cNvPr id="14" name="Text 10"/>
          <p:cNvSpPr/>
          <p:nvPr/>
        </p:nvSpPr>
        <p:spPr>
          <a:xfrm>
            <a:off x="8801100" y="5769864"/>
            <a:ext cx="2560320" cy="566928"/>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the guarded algorithm</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holds, whatever the advice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FINDING 2  ·  THE RESIDUAL LOSS</a:t>
            </a:r>
            <a:endParaRPr lang="en-US" sz="1100" dirty="0"/>
          </a:p>
        </p:txBody>
      </p:sp>
      <p:sp>
        <p:nvSpPr>
          <p:cNvPr id="4"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200" b="1" dirty="0">
                <a:solidFill>
                  <a:srgbClr val="2B3440"/>
                </a:solidFill>
                <a:latin typeface="Cambria" pitchFamily="34" charset="0"/>
                <a:ea typeface="Cambria" pitchFamily="34" charset="-122"/>
                <a:cs typeface="Cambria" pitchFamily="34" charset="-120"/>
              </a:rPr>
              <a:t>What governs the loss is order, not magnitude</a:t>
            </a:r>
            <a:endParaRPr lang="en-US" sz="3200" dirty="0"/>
          </a:p>
        </p:txBody>
      </p:sp>
      <p:pic>
        <p:nvPicPr>
          <p:cNvPr id="5" name="Image 0" descr="/Users/lizhuolun/Desktop/TB-3/matching-experiments/results/order_vs_theory.png">    </p:cNvPr>
          <p:cNvPicPr>
            <a:picLocks noChangeAspect="1"/>
          </p:cNvPicPr>
          <p:nvPr/>
        </p:nvPicPr>
        <p:blipFill>
          <a:blip r:embed="rId1"/>
          <a:stretch>
            <a:fillRect/>
          </a:stretch>
        </p:blipFill>
        <p:spPr>
          <a:xfrm>
            <a:off x="640080" y="1520347"/>
            <a:ext cx="6858000" cy="3131507"/>
          </a:xfrm>
          <a:prstGeom prst="rect">
            <a:avLst/>
          </a:prstGeom>
        </p:spPr>
      </p:pic>
      <p:sp>
        <p:nvSpPr>
          <p:cNvPr id="6" name="Text 2"/>
          <p:cNvSpPr/>
          <p:nvPr/>
        </p:nvSpPr>
        <p:spPr>
          <a:xfrm>
            <a:off x="640080" y="4754880"/>
            <a:ext cx="6858000" cy="32004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(a) realised loss against the known bound   ·   (b) the same loss against Kendall-τ</a:t>
            </a:r>
            <a:endParaRPr lang="en-US" sz="1200" dirty="0"/>
          </a:p>
        </p:txBody>
      </p:sp>
      <p:sp>
        <p:nvSpPr>
          <p:cNvPr id="7" name="Shape 3"/>
          <p:cNvSpPr/>
          <p:nvPr/>
        </p:nvSpPr>
        <p:spPr>
          <a:xfrm>
            <a:off x="7772400" y="1508760"/>
            <a:ext cx="3749040" cy="3566160"/>
          </a:xfrm>
          <a:prstGeom prst="roundRect">
            <a:avLst>
              <a:gd name="adj" fmla="val 2051"/>
            </a:avLst>
          </a:prstGeom>
          <a:solidFill>
            <a:srgbClr val="F1F3F5"/>
          </a:solidFill>
          <a:ln w="12700">
            <a:solidFill>
              <a:srgbClr val="F1F3F5"/>
            </a:solidFill>
            <a:prstDash val="solid"/>
          </a:ln>
        </p:spPr>
      </p:sp>
      <p:sp>
        <p:nvSpPr>
          <p:cNvPr id="8" name="Text 4"/>
          <p:cNvSpPr/>
          <p:nvPr/>
        </p:nvSpPr>
        <p:spPr>
          <a:xfrm>
            <a:off x="8046720" y="1783080"/>
            <a:ext cx="320040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B3440"/>
                </a:solidFill>
                <a:latin typeface="Calibri" pitchFamily="34" charset="0"/>
                <a:ea typeface="Calibri" pitchFamily="34" charset="-122"/>
                <a:cs typeface="Calibri" pitchFamily="34" charset="-120"/>
              </a:rPr>
              <a:t>All four error models collapse onto one Kendall-τ curve (Spearman ρ = 0.979).</a:t>
            </a:r>
            <a:endParaRPr lang="en-US" sz="1300" dirty="0"/>
          </a:p>
          <a:p>
            <a:pPr marL="342900" indent="-342900">
              <a:spcAft>
                <a:spcPts val="800"/>
              </a:spcAft>
              <a:buSzPct val="100000"/>
              <a:buChar char="•"/>
            </a:pPr>
            <a:r>
              <a:rPr lang="en-US" sz="1300" dirty="0">
                <a:solidFill>
                  <a:srgbClr val="2B3440"/>
                </a:solidFill>
                <a:latin typeface="Calibri" pitchFamily="34" charset="0"/>
                <a:ea typeface="Calibri" pitchFamily="34" charset="-122"/>
                <a:cs typeface="Calibri" pitchFamily="34" charset="-120"/>
              </a:rPr>
              <a:t>A monotone rescaling of the predictor changes nothing at all.</a:t>
            </a:r>
            <a:endParaRPr lang="en-US" sz="1300" dirty="0"/>
          </a:p>
          <a:p>
            <a:pPr marL="342900" indent="-342900">
              <a:spcAft>
                <a:spcPts val="800"/>
              </a:spcAft>
              <a:buSzPct val="100000"/>
              <a:buChar char="•"/>
            </a:pPr>
            <a:r>
              <a:rPr lang="en-US" sz="1300" dirty="0">
                <a:solidFill>
                  <a:srgbClr val="2B3440"/>
                </a:solidFill>
                <a:latin typeface="Calibri" pitchFamily="34" charset="0"/>
                <a:ea typeface="Calibri" pitchFamily="34" charset="-122"/>
                <a:cs typeface="Calibri" pitchFamily="34" charset="-120"/>
              </a:rPr>
              <a:t>The known n − LIS bound is loose by 16–75× and saturates — it cannot tell a harmful prediction from a harmless one.</a:t>
            </a:r>
            <a:endParaRPr lang="en-US" sz="1300" dirty="0"/>
          </a:p>
        </p:txBody>
      </p:sp>
      <p:sp>
        <p:nvSpPr>
          <p:cNvPr id="9" name="Shape 5"/>
          <p:cNvSpPr/>
          <p:nvPr/>
        </p:nvSpPr>
        <p:spPr>
          <a:xfrm>
            <a:off x="640080" y="5349240"/>
            <a:ext cx="10881360" cy="868680"/>
          </a:xfrm>
          <a:prstGeom prst="roundRect">
            <a:avLst>
              <a:gd name="adj" fmla="val 8421"/>
            </a:avLst>
          </a:prstGeom>
          <a:solidFill>
            <a:srgbClr val="F1F3F5"/>
          </a:solidFill>
          <a:ln w="12700">
            <a:solidFill>
              <a:srgbClr val="F1F3F5"/>
            </a:solidFill>
            <a:prstDash val="solid"/>
          </a:ln>
        </p:spPr>
      </p:sp>
      <p:sp>
        <p:nvSpPr>
          <p:cNvPr id="10" name="Text 6"/>
          <p:cNvSpPr/>
          <p:nvPr/>
        </p:nvSpPr>
        <p:spPr>
          <a:xfrm>
            <a:off x="932688" y="5440680"/>
            <a:ext cx="10296144" cy="685800"/>
          </a:xfrm>
          <a:prstGeom prst="rect">
            <a:avLst/>
          </a:prstGeom>
          <a:noFill/>
          <a:ln/>
        </p:spPr>
        <p:txBody>
          <a:bodyPr wrap="square" lIns="0" tIns="0" rIns="0" bIns="0" rtlCol="0" anchor="ctr"/>
          <a:lstStyle/>
          <a:p>
            <a:pPr indent="0" marL="0">
              <a:buNone/>
            </a:pPr>
            <a:r>
              <a:rPr lang="en-US" sz="1400" b="1" dirty="0">
                <a:solidFill>
                  <a:srgbClr val="2B3440"/>
                </a:solidFill>
                <a:latin typeface="Calibri" pitchFamily="34" charset="0"/>
                <a:ea typeface="Calibri" pitchFamily="34" charset="-122"/>
                <a:cs typeface="Calibri" pitchFamily="34" charset="-120"/>
              </a:rPr>
              <a:t>Attribution:  </a:t>
            </a:r>
            <a:pPr indent="0" marL="0">
              <a:buNone/>
            </a:pPr>
            <a:r>
              <a:rPr lang="en-US" sz="1400" dirty="0">
                <a:solidFill>
                  <a:srgbClr val="2B3440"/>
                </a:solidFill>
                <a:latin typeface="Calibri" pitchFamily="34" charset="0"/>
                <a:ea typeface="Calibri" pitchFamily="34" charset="-122"/>
                <a:cs typeface="Calibri" pitchFamily="34" charset="-120"/>
              </a:rPr>
              <a:t>order-dependence itself is Aamand–Chen–Indyk's theorem. Mine is the characterisation — which order measure governs the loss, and how loose the known bound is.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FINDING 3  ·  TEST-AND-FALLBACK</a:t>
            </a:r>
            <a:endParaRPr lang="en-US" sz="1100" dirty="0"/>
          </a:p>
        </p:txBody>
      </p:sp>
      <p:sp>
        <p:nvSpPr>
          <p:cNvPr id="4"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200" b="1" dirty="0">
                <a:solidFill>
                  <a:srgbClr val="2B3440"/>
                </a:solidFill>
                <a:latin typeface="Cambria" pitchFamily="34" charset="0"/>
                <a:ea typeface="Cambria" pitchFamily="34" charset="-122"/>
                <a:cs typeface="Cambria" pitchFamily="34" charset="-120"/>
              </a:rPr>
              <a:t>A more accurate test can make a worse decision</a:t>
            </a:r>
            <a:endParaRPr lang="en-US" sz="3200" dirty="0"/>
          </a:p>
        </p:txBody>
      </p:sp>
      <p:sp>
        <p:nvSpPr>
          <p:cNvPr id="5" name="Text 2"/>
          <p:cNvSpPr/>
          <p:nvPr/>
        </p:nvSpPr>
        <p:spPr>
          <a:xfrm>
            <a:off x="640080" y="1508760"/>
            <a:ext cx="4114800" cy="19202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2B3440"/>
                </a:solidFill>
                <a:latin typeface="Calibri" pitchFamily="34" charset="0"/>
                <a:ea typeface="Calibri" pitchFamily="34" charset="-122"/>
                <a:cs typeface="Calibri" pitchFamily="34" charset="-120"/>
              </a:rPr>
              <a:t>The worst-case-calibrated threshold is far too lenient on average-case inputs.</a:t>
            </a:r>
            <a:endParaRPr lang="en-US" sz="1350" dirty="0"/>
          </a:p>
          <a:p>
            <a:pPr marL="342900" indent="-342900">
              <a:spcAft>
                <a:spcPts val="800"/>
              </a:spcAft>
              <a:buSzPct val="100000"/>
              <a:buChar char="•"/>
            </a:pPr>
            <a:r>
              <a:rPr lang="en-US" sz="1350" dirty="0">
                <a:solidFill>
                  <a:srgbClr val="2B3440"/>
                </a:solidFill>
                <a:latin typeface="Calibri" pitchFamily="34" charset="0"/>
                <a:ea typeface="Calibri" pitchFamily="34" charset="-122"/>
                <a:cs typeface="Calibri" pitchFamily="34" charset="-120"/>
              </a:rPr>
              <a:t>So a larger, more accurate prefix test decides worse than a small, noisy one.</a:t>
            </a:r>
            <a:endParaRPr lang="en-US" sz="1350" dirty="0"/>
          </a:p>
          <a:p>
            <a:pPr marL="342900" indent="-342900">
              <a:spcAft>
                <a:spcPts val="800"/>
              </a:spcAft>
              <a:buSzPct val="100000"/>
              <a:buChar char="•"/>
            </a:pPr>
            <a:r>
              <a:rPr lang="en-US" sz="1350" dirty="0">
                <a:solidFill>
                  <a:srgbClr val="2B3440"/>
                </a:solidFill>
                <a:latin typeface="Calibri" pitchFamily="34" charset="0"/>
                <a:ea typeface="Calibri" pitchFamily="34" charset="-122"/>
                <a:cs typeface="Calibri" pitchFamily="34" charset="-120"/>
              </a:rPr>
              <a:t>Recalibration removes the pathology and exposes what is underneath.</a:t>
            </a:r>
            <a:endParaRPr lang="en-US" sz="1350" dirty="0"/>
          </a:p>
        </p:txBody>
      </p:sp>
      <p:sp>
        <p:nvSpPr>
          <p:cNvPr id="6" name="Shape 3"/>
          <p:cNvSpPr/>
          <p:nvPr/>
        </p:nvSpPr>
        <p:spPr>
          <a:xfrm>
            <a:off x="640080" y="3657600"/>
            <a:ext cx="4114800" cy="2468880"/>
          </a:xfrm>
          <a:prstGeom prst="roundRect">
            <a:avLst>
              <a:gd name="adj" fmla="val 2963"/>
            </a:avLst>
          </a:prstGeom>
          <a:solidFill>
            <a:srgbClr val="F1F3F5"/>
          </a:solidFill>
          <a:ln w="12700">
            <a:solidFill>
              <a:srgbClr val="F1F3F5"/>
            </a:solidFill>
            <a:prstDash val="solid"/>
          </a:ln>
        </p:spPr>
      </p:sp>
      <p:sp>
        <p:nvSpPr>
          <p:cNvPr id="7" name="Text 4"/>
          <p:cNvSpPr/>
          <p:nvPr/>
        </p:nvSpPr>
        <p:spPr>
          <a:xfrm>
            <a:off x="914400" y="3840480"/>
            <a:ext cx="3566160" cy="365760"/>
          </a:xfrm>
          <a:prstGeom prst="rect">
            <a:avLst/>
          </a:prstGeom>
          <a:noFill/>
          <a:ln/>
        </p:spPr>
        <p:txBody>
          <a:bodyPr wrap="square" lIns="0" tIns="0" rIns="0" bIns="0" rtlCol="0" anchor="ctr"/>
          <a:lstStyle/>
          <a:p>
            <a:pPr indent="0" marL="0">
              <a:buNone/>
            </a:pPr>
            <a:r>
              <a:rPr lang="en-US" sz="1700" b="1" dirty="0">
                <a:solidFill>
                  <a:srgbClr val="C1440E"/>
                </a:solidFill>
                <a:latin typeface="Cambria" pitchFamily="34" charset="0"/>
                <a:ea typeface="Cambria" pitchFamily="34" charset="-122"/>
                <a:cs typeface="Cambria" pitchFamily="34" charset="-120"/>
              </a:rPr>
              <a:t>The resolution limit</a:t>
            </a:r>
            <a:endParaRPr lang="en-US" sz="1700" dirty="0"/>
          </a:p>
        </p:txBody>
      </p:sp>
      <p:sp>
        <p:nvSpPr>
          <p:cNvPr id="8" name="Text 5"/>
          <p:cNvSpPr/>
          <p:nvPr/>
        </p:nvSpPr>
        <p:spPr>
          <a:xfrm>
            <a:off x="914400" y="4251960"/>
            <a:ext cx="3566160" cy="1737360"/>
          </a:xfrm>
          <a:prstGeom prst="rect">
            <a:avLst/>
          </a:prstGeom>
          <a:noFill/>
          <a:ln/>
        </p:spPr>
        <p:txBody>
          <a:bodyPr wrap="square" lIns="0" tIns="0" rIns="0" bIns="0" rtlCol="0" anchor="ctr"/>
          <a:lstStyle/>
          <a:p>
            <a:pPr indent="0" marL="0">
              <a:buNone/>
            </a:pPr>
            <a:r>
              <a:rPr lang="en-US" sz="1350" dirty="0">
                <a:solidFill>
                  <a:srgbClr val="2B3440"/>
                </a:solidFill>
                <a:latin typeface="Calibri" pitchFamily="34" charset="0"/>
                <a:ea typeface="Calibri" pitchFamily="34" charset="-122"/>
                <a:cs typeface="Calibri" pitchFamily="34" charset="-120"/>
              </a:rPr>
              <a:t>No practical acceptance threshold can capture an upside smaller than its own estimator's noise — and this holds across the whole difficulty range, not just at one setting.</a:t>
            </a:r>
            <a:endParaRPr lang="en-US" sz="1350" dirty="0"/>
          </a:p>
        </p:txBody>
      </p:sp>
      <p:pic>
        <p:nvPicPr>
          <p:cNvPr id="9" name="Image 0" descr="/Users/lizhuolun/Desktop/TB-3/matching-experiments/results/impossibility_frontier.png">    </p:cNvPr>
          <p:cNvPicPr>
            <a:picLocks noChangeAspect="1"/>
          </p:cNvPicPr>
          <p:nvPr/>
        </p:nvPicPr>
        <p:blipFill>
          <a:blip r:embed="rId1"/>
          <a:stretch>
            <a:fillRect/>
          </a:stretch>
        </p:blipFill>
        <p:spPr>
          <a:xfrm>
            <a:off x="5074920" y="1738932"/>
            <a:ext cx="6446520" cy="2548032"/>
          </a:xfrm>
          <a:prstGeom prst="rect">
            <a:avLst/>
          </a:prstGeom>
        </p:spPr>
      </p:pic>
      <p:sp>
        <p:nvSpPr>
          <p:cNvPr id="10" name="Text 6"/>
          <p:cNvSpPr/>
          <p:nvPr/>
        </p:nvSpPr>
        <p:spPr>
          <a:xfrm>
            <a:off x="5257800" y="4617720"/>
            <a:ext cx="6126480" cy="73152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Potential upside grows as the baseline weakens; the upside a sublinear test can safely capture stays near zero. The curves separate rather than converge.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EXTERNAL VALIDITY</a:t>
            </a:r>
            <a:endParaRPr lang="en-US" sz="1100" dirty="0"/>
          </a:p>
        </p:txBody>
      </p:sp>
      <p:sp>
        <p:nvSpPr>
          <p:cNvPr id="4"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200" b="1" dirty="0">
                <a:solidFill>
                  <a:srgbClr val="2B3440"/>
                </a:solidFill>
                <a:latin typeface="Cambria" pitchFamily="34" charset="0"/>
                <a:ea typeface="Cambria" pitchFamily="34" charset="-122"/>
                <a:cs typeface="Cambria" pitchFamily="34" charset="-120"/>
              </a:rPr>
              <a:t>It survives real predictors and real graphs</a:t>
            </a:r>
            <a:endParaRPr lang="en-US" sz="3200" dirty="0"/>
          </a:p>
        </p:txBody>
      </p:sp>
      <p:pic>
        <p:nvPicPr>
          <p:cNvPr id="5" name="Image 0" descr="/Users/lizhuolun/Desktop/TB-3/matching-experiments/results/real_predictor.png">    </p:cNvPr>
          <p:cNvPicPr>
            <a:picLocks noChangeAspect="1"/>
          </p:cNvPicPr>
          <p:nvPr/>
        </p:nvPicPr>
        <p:blipFill>
          <a:blip r:embed="rId1"/>
          <a:stretch>
            <a:fillRect/>
          </a:stretch>
        </p:blipFill>
        <p:spPr>
          <a:xfrm>
            <a:off x="640080" y="1471273"/>
            <a:ext cx="6400800" cy="2452414"/>
          </a:xfrm>
          <a:prstGeom prst="rect">
            <a:avLst/>
          </a:prstGeom>
        </p:spPr>
      </p:pic>
      <p:sp>
        <p:nvSpPr>
          <p:cNvPr id="6" name="Text 2"/>
          <p:cNvSpPr/>
          <p:nvPr/>
        </p:nvSpPr>
        <p:spPr>
          <a:xfrm>
            <a:off x="640080" y="4023360"/>
            <a:ext cx="6400800" cy="36576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A cheap, non-ML predictor: last-window Wikipedia pageview counts, so the error is genuine temporal drift.</a:t>
            </a:r>
            <a:endParaRPr lang="en-US" sz="1200" dirty="0"/>
          </a:p>
        </p:txBody>
      </p:sp>
      <p:sp>
        <p:nvSpPr>
          <p:cNvPr id="7" name="Text 3"/>
          <p:cNvSpPr/>
          <p:nvPr/>
        </p:nvSpPr>
        <p:spPr>
          <a:xfrm>
            <a:off x="640080" y="4526280"/>
            <a:ext cx="6400800" cy="685800"/>
          </a:xfrm>
          <a:prstGeom prst="rect">
            <a:avLst/>
          </a:prstGeom>
          <a:noFill/>
          <a:ln/>
        </p:spPr>
        <p:txBody>
          <a:bodyPr wrap="square" lIns="0" tIns="0" rIns="0" bIns="0" rtlCol="0" anchor="ctr"/>
          <a:lstStyle/>
          <a:p>
            <a:pPr indent="0" marL="0">
              <a:buNone/>
            </a:pPr>
            <a:r>
              <a:rPr lang="en-US" sz="1400" dirty="0">
                <a:solidFill>
                  <a:srgbClr val="2B3440"/>
                </a:solidFill>
                <a:latin typeface="Calibri" pitchFamily="34" charset="0"/>
                <a:ea typeface="Calibri" pitchFamily="34" charset="-122"/>
                <a:cs typeface="Calibri" pitchFamily="34" charset="-120"/>
              </a:rPr>
              <a:t>Why it works: aggregating the forecast onto the topology halves its order error — and order is all the algorithm consumes.</a:t>
            </a:r>
            <a:endParaRPr lang="en-US" sz="1400" dirty="0"/>
          </a:p>
        </p:txBody>
      </p:sp>
      <p:sp>
        <p:nvSpPr>
          <p:cNvPr id="8" name="Shape 4"/>
          <p:cNvSpPr/>
          <p:nvPr/>
        </p:nvSpPr>
        <p:spPr>
          <a:xfrm>
            <a:off x="640080" y="5349240"/>
            <a:ext cx="6400800" cy="822960"/>
          </a:xfrm>
          <a:prstGeom prst="roundRect">
            <a:avLst>
              <a:gd name="adj" fmla="val 8889"/>
            </a:avLst>
          </a:prstGeom>
          <a:solidFill>
            <a:srgbClr val="F1F3F5"/>
          </a:solidFill>
          <a:ln w="12700">
            <a:solidFill>
              <a:srgbClr val="F1F3F5"/>
            </a:solidFill>
            <a:prstDash val="solid"/>
          </a:ln>
        </p:spPr>
      </p:sp>
      <p:sp>
        <p:nvSpPr>
          <p:cNvPr id="9" name="Text 5"/>
          <p:cNvSpPr/>
          <p:nvPr/>
        </p:nvSpPr>
        <p:spPr>
          <a:xfrm>
            <a:off x="914400" y="5440680"/>
            <a:ext cx="5852160" cy="640080"/>
          </a:xfrm>
          <a:prstGeom prst="rect">
            <a:avLst/>
          </a:prstGeom>
          <a:noFill/>
          <a:ln/>
        </p:spPr>
        <p:txBody>
          <a:bodyPr wrap="square" lIns="0" tIns="0" rIns="0" bIns="0" rtlCol="0" anchor="ctr"/>
          <a:lstStyle/>
          <a:p>
            <a:pPr indent="0" marL="0">
              <a:buNone/>
            </a:pPr>
            <a:r>
              <a:rPr lang="en-US" sz="1400" b="1" dirty="0">
                <a:solidFill>
                  <a:srgbClr val="C1440E"/>
                </a:solidFill>
                <a:latin typeface="Calibri" pitchFamily="34" charset="0"/>
                <a:ea typeface="Calibri" pitchFamily="34" charset="-122"/>
                <a:cs typeface="Calibri" pitchFamily="34" charset="-120"/>
              </a:rPr>
              <a:t>The same forecast, consumed without a guard, collapses to 0.36 — far below the 0.92 baseline.</a:t>
            </a:r>
            <a:endParaRPr lang="en-US" sz="1400" dirty="0"/>
          </a:p>
        </p:txBody>
      </p:sp>
      <p:sp>
        <p:nvSpPr>
          <p:cNvPr id="10" name="Shape 6"/>
          <p:cNvSpPr/>
          <p:nvPr/>
        </p:nvSpPr>
        <p:spPr>
          <a:xfrm>
            <a:off x="7498080" y="1463040"/>
            <a:ext cx="4023360" cy="1371600"/>
          </a:xfrm>
          <a:prstGeom prst="roundRect">
            <a:avLst>
              <a:gd name="adj" fmla="val 5333"/>
            </a:avLst>
          </a:prstGeom>
          <a:solidFill>
            <a:srgbClr val="F1F3F5"/>
          </a:solidFill>
          <a:ln w="12700">
            <a:solidFill>
              <a:srgbClr val="F1F3F5"/>
            </a:solidFill>
            <a:prstDash val="solid"/>
          </a:ln>
        </p:spPr>
      </p:sp>
      <p:sp>
        <p:nvSpPr>
          <p:cNvPr id="11" name="Text 7"/>
          <p:cNvSpPr/>
          <p:nvPr/>
        </p:nvSpPr>
        <p:spPr>
          <a:xfrm>
            <a:off x="7772400" y="1645920"/>
            <a:ext cx="3200400" cy="548640"/>
          </a:xfrm>
          <a:prstGeom prst="rect">
            <a:avLst/>
          </a:prstGeom>
          <a:noFill/>
          <a:ln/>
        </p:spPr>
        <p:txBody>
          <a:bodyPr wrap="square" lIns="0" tIns="0" rIns="0" bIns="0" rtlCol="0" anchor="ctr"/>
          <a:lstStyle/>
          <a:p>
            <a:pPr indent="0" marL="0">
              <a:buNone/>
            </a:pPr>
            <a:r>
              <a:rPr lang="en-US" sz="2800" b="1" dirty="0">
                <a:solidFill>
                  <a:srgbClr val="2F6F6B"/>
                </a:solidFill>
                <a:latin typeface="Cambria" pitchFamily="34" charset="0"/>
                <a:ea typeface="Cambria" pitchFamily="34" charset="-122"/>
                <a:cs typeface="Cambria" pitchFamily="34" charset="-120"/>
              </a:rPr>
              <a:t>27–68%</a:t>
            </a:r>
            <a:endParaRPr lang="en-US" sz="2800" dirty="0"/>
          </a:p>
        </p:txBody>
      </p:sp>
      <p:sp>
        <p:nvSpPr>
          <p:cNvPr id="12" name="Text 8"/>
          <p:cNvSpPr/>
          <p:nvPr/>
        </p:nvSpPr>
        <p:spPr>
          <a:xfrm>
            <a:off x="7772400" y="2212848"/>
            <a:ext cx="3200400" cy="5029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of the available gap captured by a linear-time count</a:t>
            </a:r>
            <a:endParaRPr lang="en-US" sz="1250" dirty="0"/>
          </a:p>
        </p:txBody>
      </p:sp>
      <p:sp>
        <p:nvSpPr>
          <p:cNvPr id="13" name="Shape 9"/>
          <p:cNvSpPr/>
          <p:nvPr/>
        </p:nvSpPr>
        <p:spPr>
          <a:xfrm>
            <a:off x="7498080" y="3063240"/>
            <a:ext cx="4023360" cy="1371600"/>
          </a:xfrm>
          <a:prstGeom prst="roundRect">
            <a:avLst>
              <a:gd name="adj" fmla="val 5333"/>
            </a:avLst>
          </a:prstGeom>
          <a:solidFill>
            <a:srgbClr val="F1F3F5"/>
          </a:solidFill>
          <a:ln w="12700">
            <a:solidFill>
              <a:srgbClr val="F1F3F5"/>
            </a:solidFill>
            <a:prstDash val="solid"/>
          </a:ln>
        </p:spPr>
      </p:sp>
      <p:sp>
        <p:nvSpPr>
          <p:cNvPr id="14" name="Text 10"/>
          <p:cNvSpPr/>
          <p:nvPr/>
        </p:nvSpPr>
        <p:spPr>
          <a:xfrm>
            <a:off x="7772400" y="3246120"/>
            <a:ext cx="3200400" cy="548640"/>
          </a:xfrm>
          <a:prstGeom prst="rect">
            <a:avLst/>
          </a:prstGeom>
          <a:noFill/>
          <a:ln/>
        </p:spPr>
        <p:txBody>
          <a:bodyPr wrap="square" lIns="0" tIns="0" rIns="0" bIns="0" rtlCol="0" anchor="ctr"/>
          <a:lstStyle/>
          <a:p>
            <a:pPr indent="0" marL="0">
              <a:buNone/>
            </a:pPr>
            <a:r>
              <a:rPr lang="en-US" sz="2800" b="1" dirty="0">
                <a:solidFill>
                  <a:srgbClr val="2B3440"/>
                </a:solidFill>
                <a:latin typeface="Cambria" pitchFamily="34" charset="0"/>
                <a:ea typeface="Cambria" pitchFamily="34" charset="-122"/>
                <a:cs typeface="Cambria" pitchFamily="34" charset="-120"/>
              </a:rPr>
              <a:t>0.11 ms</a:t>
            </a:r>
            <a:endParaRPr lang="en-US" sz="2800" dirty="0"/>
          </a:p>
        </p:txBody>
      </p:sp>
      <p:sp>
        <p:nvSpPr>
          <p:cNvPr id="15" name="Text 11"/>
          <p:cNvSpPr/>
          <p:nvPr/>
        </p:nvSpPr>
        <p:spPr>
          <a:xfrm>
            <a:off x="7772400" y="3813048"/>
            <a:ext cx="3200400" cy="5029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to compute, against 4.4 ms for the optimum itself</a:t>
            </a:r>
            <a:endParaRPr lang="en-US" sz="1250" dirty="0"/>
          </a:p>
        </p:txBody>
      </p:sp>
      <p:sp>
        <p:nvSpPr>
          <p:cNvPr id="16" name="Shape 12"/>
          <p:cNvSpPr/>
          <p:nvPr/>
        </p:nvSpPr>
        <p:spPr>
          <a:xfrm>
            <a:off x="7498080" y="4663440"/>
            <a:ext cx="4023360" cy="1371600"/>
          </a:xfrm>
          <a:prstGeom prst="roundRect">
            <a:avLst>
              <a:gd name="adj" fmla="val 5333"/>
            </a:avLst>
          </a:prstGeom>
          <a:solidFill>
            <a:srgbClr val="F1F3F5"/>
          </a:solidFill>
          <a:ln w="12700">
            <a:solidFill>
              <a:srgbClr val="F1F3F5"/>
            </a:solidFill>
            <a:prstDash val="solid"/>
          </a:ln>
        </p:spPr>
      </p:sp>
      <p:sp>
        <p:nvSpPr>
          <p:cNvPr id="17" name="Text 13"/>
          <p:cNvSpPr/>
          <p:nvPr/>
        </p:nvSpPr>
        <p:spPr>
          <a:xfrm>
            <a:off x="7772400" y="4846320"/>
            <a:ext cx="3200400" cy="548640"/>
          </a:xfrm>
          <a:prstGeom prst="rect">
            <a:avLst/>
          </a:prstGeom>
          <a:noFill/>
          <a:ln/>
        </p:spPr>
        <p:txBody>
          <a:bodyPr wrap="square" lIns="0" tIns="0" rIns="0" bIns="0" rtlCol="0" anchor="ctr"/>
          <a:lstStyle/>
          <a:p>
            <a:pPr indent="0" marL="0">
              <a:buNone/>
            </a:pPr>
            <a:r>
              <a:rPr lang="en-US" sz="2800" b="1" dirty="0">
                <a:solidFill>
                  <a:srgbClr val="C1440E"/>
                </a:solidFill>
                <a:latin typeface="Cambria" pitchFamily="34" charset="0"/>
                <a:ea typeface="Cambria" pitchFamily="34" charset="-122"/>
                <a:cs typeface="Cambria" pitchFamily="34" charset="-120"/>
              </a:rPr>
              <a:t>6 / 6</a:t>
            </a:r>
            <a:endParaRPr lang="en-US" sz="2800" dirty="0"/>
          </a:p>
        </p:txBody>
      </p:sp>
      <p:sp>
        <p:nvSpPr>
          <p:cNvPr id="18" name="Text 14"/>
          <p:cNvSpPr/>
          <p:nvPr/>
        </p:nvSpPr>
        <p:spPr>
          <a:xfrm>
            <a:off x="7772400" y="5413248"/>
            <a:ext cx="3200400" cy="502920"/>
          </a:xfrm>
          <a:prstGeom prst="rect">
            <a:avLst/>
          </a:prstGeom>
          <a:noFill/>
          <a:ln/>
        </p:spPr>
        <p:txBody>
          <a:bodyPr wrap="square" lIns="0" tIns="0" rIns="0" bIns="0" rtlCol="0" anchor="ctr"/>
          <a:lstStyle/>
          <a:p>
            <a:pPr indent="0" marL="0">
              <a:buNone/>
            </a:pPr>
            <a:r>
              <a:rPr lang="en-US" sz="1250" dirty="0">
                <a:solidFill>
                  <a:srgbClr val="6B7280"/>
                </a:solidFill>
                <a:latin typeface="Calibri" pitchFamily="34" charset="0"/>
                <a:ea typeface="Calibri" pitchFamily="34" charset="-122"/>
                <a:cs typeface="Calibri" pitchFamily="34" charset="-120"/>
              </a:rPr>
              <a:t>real-world graphs on which the crash finding still holds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NEGATIVE RESULTS</a:t>
            </a:r>
            <a:endParaRPr lang="en-US" sz="1100" dirty="0"/>
          </a:p>
        </p:txBody>
      </p:sp>
      <p:sp>
        <p:nvSpPr>
          <p:cNvPr id="4"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200" b="1" dirty="0">
                <a:solidFill>
                  <a:srgbClr val="2B3440"/>
                </a:solidFill>
                <a:latin typeface="Cambria" pitchFamily="34" charset="0"/>
                <a:ea typeface="Cambria" pitchFamily="34" charset="-122"/>
                <a:cs typeface="Cambria" pitchFamily="34" charset="-120"/>
              </a:rPr>
              <a:t>Two attempts to get past the wall</a:t>
            </a:r>
            <a:endParaRPr lang="en-US" sz="3200" dirty="0"/>
          </a:p>
        </p:txBody>
      </p:sp>
      <p:sp>
        <p:nvSpPr>
          <p:cNvPr id="5" name="Text 2"/>
          <p:cNvSpPr/>
          <p:nvPr/>
        </p:nvSpPr>
        <p:spPr>
          <a:xfrm>
            <a:off x="640080" y="1417320"/>
            <a:ext cx="5486400" cy="292608"/>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Reported as results, not omitted.</a:t>
            </a:r>
            <a:endParaRPr lang="en-US" sz="1300" dirty="0"/>
          </a:p>
        </p:txBody>
      </p:sp>
      <p:sp>
        <p:nvSpPr>
          <p:cNvPr id="6" name="Shape 3"/>
          <p:cNvSpPr/>
          <p:nvPr/>
        </p:nvSpPr>
        <p:spPr>
          <a:xfrm>
            <a:off x="640080" y="1874520"/>
            <a:ext cx="5486400" cy="1188720"/>
          </a:xfrm>
          <a:prstGeom prst="roundRect">
            <a:avLst>
              <a:gd name="adj" fmla="val 6154"/>
            </a:avLst>
          </a:prstGeom>
          <a:solidFill>
            <a:srgbClr val="F1F3F5"/>
          </a:solidFill>
          <a:ln w="12700">
            <a:solidFill>
              <a:srgbClr val="F1F3F5"/>
            </a:solidFill>
            <a:prstDash val="solid"/>
          </a:ln>
        </p:spPr>
      </p:sp>
      <p:sp>
        <p:nvSpPr>
          <p:cNvPr id="7" name="Shape 4"/>
          <p:cNvSpPr/>
          <p:nvPr/>
        </p:nvSpPr>
        <p:spPr>
          <a:xfrm>
            <a:off x="896112" y="2258568"/>
            <a:ext cx="566928" cy="420624"/>
          </a:xfrm>
          <a:prstGeom prst="roundRect">
            <a:avLst>
              <a:gd name="adj" fmla="val 17391"/>
            </a:avLst>
          </a:prstGeom>
          <a:solidFill>
            <a:srgbClr val="2F6F6B"/>
          </a:solidFill>
          <a:ln/>
        </p:spPr>
      </p:sp>
      <p:sp>
        <p:nvSpPr>
          <p:cNvPr id="8" name="Text 5"/>
          <p:cNvSpPr/>
          <p:nvPr/>
        </p:nvSpPr>
        <p:spPr>
          <a:xfrm>
            <a:off x="896112" y="2258568"/>
            <a:ext cx="566928"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M0</a:t>
            </a:r>
            <a:endParaRPr lang="en-US" sz="1300" dirty="0"/>
          </a:p>
        </p:txBody>
      </p:sp>
      <p:sp>
        <p:nvSpPr>
          <p:cNvPr id="9" name="Text 6"/>
          <p:cNvSpPr/>
          <p:nvPr/>
        </p:nvSpPr>
        <p:spPr>
          <a:xfrm>
            <a:off x="1645920" y="2011680"/>
            <a:ext cx="4206240" cy="914400"/>
          </a:xfrm>
          <a:prstGeom prst="rect">
            <a:avLst/>
          </a:prstGeom>
          <a:noFill/>
          <a:ln/>
        </p:spPr>
        <p:txBody>
          <a:bodyPr wrap="square" lIns="0" tIns="0" rIns="0" bIns="0" rtlCol="0" anchor="ctr"/>
          <a:lstStyle/>
          <a:p>
            <a:pPr indent="0" marL="0">
              <a:buNone/>
            </a:pPr>
            <a:r>
              <a:rPr lang="en-US" sz="1250" dirty="0">
                <a:solidFill>
                  <a:srgbClr val="2B3440"/>
                </a:solidFill>
                <a:latin typeface="Calibri" pitchFamily="34" charset="0"/>
                <a:ea typeface="Calibri" pitchFamily="34" charset="-122"/>
                <a:cs typeface="Calibri" pitchFamily="34" charset="-120"/>
              </a:rPr>
              <a:t>The mechanism is real: with engineered features, training the predictor for order beats training it for accuracy — 0.989 vs 0.974 — while fitting the truth worse.</a:t>
            </a:r>
            <a:endParaRPr lang="en-US" sz="1250" dirty="0"/>
          </a:p>
        </p:txBody>
      </p:sp>
      <p:sp>
        <p:nvSpPr>
          <p:cNvPr id="10" name="Shape 7"/>
          <p:cNvSpPr/>
          <p:nvPr/>
        </p:nvSpPr>
        <p:spPr>
          <a:xfrm>
            <a:off x="640080" y="3246120"/>
            <a:ext cx="5486400" cy="1188720"/>
          </a:xfrm>
          <a:prstGeom prst="roundRect">
            <a:avLst>
              <a:gd name="adj" fmla="val 6154"/>
            </a:avLst>
          </a:prstGeom>
          <a:solidFill>
            <a:srgbClr val="F1F3F5"/>
          </a:solidFill>
          <a:ln w="12700">
            <a:solidFill>
              <a:srgbClr val="F1F3F5"/>
            </a:solidFill>
            <a:prstDash val="solid"/>
          </a:ln>
        </p:spPr>
      </p:sp>
      <p:sp>
        <p:nvSpPr>
          <p:cNvPr id="11" name="Shape 8"/>
          <p:cNvSpPr/>
          <p:nvPr/>
        </p:nvSpPr>
        <p:spPr>
          <a:xfrm>
            <a:off x="896112" y="3630168"/>
            <a:ext cx="566928" cy="420624"/>
          </a:xfrm>
          <a:prstGeom prst="roundRect">
            <a:avLst>
              <a:gd name="adj" fmla="val 17391"/>
            </a:avLst>
          </a:prstGeom>
          <a:solidFill>
            <a:srgbClr val="C8A24B"/>
          </a:solidFill>
          <a:ln/>
        </p:spPr>
      </p:sp>
      <p:sp>
        <p:nvSpPr>
          <p:cNvPr id="12" name="Text 9"/>
          <p:cNvSpPr/>
          <p:nvPr/>
        </p:nvSpPr>
        <p:spPr>
          <a:xfrm>
            <a:off x="896112" y="3630168"/>
            <a:ext cx="566928"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M1</a:t>
            </a:r>
            <a:endParaRPr lang="en-US" sz="1300" dirty="0"/>
          </a:p>
        </p:txBody>
      </p:sp>
      <p:sp>
        <p:nvSpPr>
          <p:cNvPr id="13" name="Text 10"/>
          <p:cNvSpPr/>
          <p:nvPr/>
        </p:nvSpPr>
        <p:spPr>
          <a:xfrm>
            <a:off x="1645920" y="3383280"/>
            <a:ext cx="4206240" cy="914400"/>
          </a:xfrm>
          <a:prstGeom prst="rect">
            <a:avLst/>
          </a:prstGeom>
          <a:noFill/>
          <a:ln/>
        </p:spPr>
        <p:txBody>
          <a:bodyPr wrap="square" lIns="0" tIns="0" rIns="0" bIns="0" rtlCol="0" anchor="ctr"/>
          <a:lstStyle/>
          <a:p>
            <a:pPr indent="0" marL="0">
              <a:buNone/>
            </a:pPr>
            <a:r>
              <a:rPr lang="en-US" sz="1250" dirty="0">
                <a:solidFill>
                  <a:srgbClr val="2B3440"/>
                </a:solidFill>
                <a:latin typeface="Calibri" pitchFamily="34" charset="0"/>
                <a:ea typeface="Calibri" pitchFamily="34" charset="-122"/>
                <a:cs typeface="Calibri" pitchFamily="34" charset="-120"/>
              </a:rPr>
              <a:t>But the advantage is doubly gated, and peaks at +1.3% of the ratio.</a:t>
            </a:r>
            <a:endParaRPr lang="en-US" sz="1250" dirty="0"/>
          </a:p>
        </p:txBody>
      </p:sp>
      <p:sp>
        <p:nvSpPr>
          <p:cNvPr id="14" name="Shape 11"/>
          <p:cNvSpPr/>
          <p:nvPr/>
        </p:nvSpPr>
        <p:spPr>
          <a:xfrm>
            <a:off x="640080" y="4617720"/>
            <a:ext cx="5486400" cy="1188720"/>
          </a:xfrm>
          <a:prstGeom prst="roundRect">
            <a:avLst>
              <a:gd name="adj" fmla="val 6154"/>
            </a:avLst>
          </a:prstGeom>
          <a:solidFill>
            <a:srgbClr val="F1F3F5"/>
          </a:solidFill>
          <a:ln w="12700">
            <a:solidFill>
              <a:srgbClr val="F1F3F5"/>
            </a:solidFill>
            <a:prstDash val="solid"/>
          </a:ln>
        </p:spPr>
      </p:sp>
      <p:sp>
        <p:nvSpPr>
          <p:cNvPr id="15" name="Shape 12"/>
          <p:cNvSpPr/>
          <p:nvPr/>
        </p:nvSpPr>
        <p:spPr>
          <a:xfrm>
            <a:off x="896112" y="5001768"/>
            <a:ext cx="566928" cy="420624"/>
          </a:xfrm>
          <a:prstGeom prst="roundRect">
            <a:avLst>
              <a:gd name="adj" fmla="val 17391"/>
            </a:avLst>
          </a:prstGeom>
          <a:solidFill>
            <a:srgbClr val="C1440E"/>
          </a:solidFill>
          <a:ln/>
        </p:spPr>
      </p:sp>
      <p:sp>
        <p:nvSpPr>
          <p:cNvPr id="16" name="Text 13"/>
          <p:cNvSpPr/>
          <p:nvPr/>
        </p:nvSpPr>
        <p:spPr>
          <a:xfrm>
            <a:off x="896112" y="5001768"/>
            <a:ext cx="566928"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M3</a:t>
            </a:r>
            <a:endParaRPr lang="en-US" sz="1300" dirty="0"/>
          </a:p>
        </p:txBody>
      </p:sp>
      <p:sp>
        <p:nvSpPr>
          <p:cNvPr id="17" name="Text 14"/>
          <p:cNvSpPr/>
          <p:nvPr/>
        </p:nvSpPr>
        <p:spPr>
          <a:xfrm>
            <a:off x="1645920" y="4754880"/>
            <a:ext cx="4206240" cy="914400"/>
          </a:xfrm>
          <a:prstGeom prst="rect">
            <a:avLst/>
          </a:prstGeom>
          <a:noFill/>
          <a:ln/>
        </p:spPr>
        <p:txBody>
          <a:bodyPr wrap="square" lIns="0" tIns="0" rIns="0" bIns="0" rtlCol="0" anchor="ctr"/>
          <a:lstStyle/>
          <a:p>
            <a:pPr indent="0" marL="0">
              <a:buNone/>
            </a:pPr>
            <a:r>
              <a:rPr lang="en-US" sz="1250" dirty="0">
                <a:solidFill>
                  <a:srgbClr val="2B3440"/>
                </a:solidFill>
                <a:latin typeface="Calibri" pitchFamily="34" charset="0"/>
                <a:ea typeface="Calibri" pitchFamily="34" charset="-122"/>
                <a:cs typeface="Calibri" pitchFamily="34" charset="-120"/>
              </a:rPr>
              <a:t>And on genuine temporal features from a real trace it vanishes: identical order (τ = 0.126 both), identical matching.</a:t>
            </a:r>
            <a:endParaRPr lang="en-US" sz="1250" dirty="0"/>
          </a:p>
        </p:txBody>
      </p:sp>
      <p:pic>
        <p:nvPicPr>
          <p:cNvPr id="18" name="Image 0" descr="/Users/lizhuolun/Desktop/TB-3/matching-experiments/results/rank_real_trace.png">    </p:cNvPr>
          <p:cNvPicPr>
            <a:picLocks noChangeAspect="1"/>
          </p:cNvPicPr>
          <p:nvPr/>
        </p:nvPicPr>
        <p:blipFill>
          <a:blip r:embed="rId1"/>
          <a:stretch>
            <a:fillRect/>
          </a:stretch>
        </p:blipFill>
        <p:spPr>
          <a:xfrm>
            <a:off x="6537960" y="1792154"/>
            <a:ext cx="4983480" cy="1902092"/>
          </a:xfrm>
          <a:prstGeom prst="rect">
            <a:avLst/>
          </a:prstGeom>
        </p:spPr>
      </p:pic>
      <p:sp>
        <p:nvSpPr>
          <p:cNvPr id="19" name="Text 15"/>
          <p:cNvSpPr/>
          <p:nvPr/>
        </p:nvSpPr>
        <p:spPr>
          <a:xfrm>
            <a:off x="6537960" y="3794760"/>
            <a:ext cx="4983480" cy="36576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M3: rank- and MSE-trained predictors are indistinguishable on real features.</a:t>
            </a:r>
            <a:endParaRPr lang="en-US" sz="1200" dirty="0"/>
          </a:p>
        </p:txBody>
      </p:sp>
      <p:sp>
        <p:nvSpPr>
          <p:cNvPr id="20" name="Shape 16"/>
          <p:cNvSpPr/>
          <p:nvPr/>
        </p:nvSpPr>
        <p:spPr>
          <a:xfrm>
            <a:off x="6537960" y="4297680"/>
            <a:ext cx="4983480" cy="1691640"/>
          </a:xfrm>
          <a:prstGeom prst="roundRect">
            <a:avLst>
              <a:gd name="adj" fmla="val 4324"/>
            </a:avLst>
          </a:prstGeom>
          <a:solidFill>
            <a:srgbClr val="F1F3F5"/>
          </a:solidFill>
          <a:ln w="12700">
            <a:solidFill>
              <a:srgbClr val="F1F3F5"/>
            </a:solidFill>
            <a:prstDash val="solid"/>
          </a:ln>
        </p:spPr>
      </p:sp>
      <p:sp>
        <p:nvSpPr>
          <p:cNvPr id="21" name="Text 17"/>
          <p:cNvSpPr/>
          <p:nvPr/>
        </p:nvSpPr>
        <p:spPr>
          <a:xfrm>
            <a:off x="6812280" y="4480560"/>
            <a:ext cx="4480560" cy="320040"/>
          </a:xfrm>
          <a:prstGeom prst="rect">
            <a:avLst/>
          </a:prstGeom>
          <a:noFill/>
          <a:ln/>
        </p:spPr>
        <p:txBody>
          <a:bodyPr wrap="square" lIns="0" tIns="0" rIns="0" bIns="0" rtlCol="0" anchor="ctr"/>
          <a:lstStyle/>
          <a:p>
            <a:pPr indent="0" marL="0">
              <a:buNone/>
            </a:pPr>
            <a:r>
              <a:rPr lang="en-US" sz="1600" b="1" dirty="0">
                <a:solidFill>
                  <a:srgbClr val="2B3440"/>
                </a:solidFill>
                <a:latin typeface="Cambria" pitchFamily="34" charset="0"/>
                <a:ea typeface="Cambria" pitchFamily="34" charset="-122"/>
                <a:cs typeface="Cambria" pitchFamily="34" charset="-120"/>
              </a:rPr>
              <a:t>Second attempt: a tail objective</a:t>
            </a:r>
            <a:endParaRPr lang="en-US" sz="1600" dirty="0"/>
          </a:p>
        </p:txBody>
      </p:sp>
      <p:sp>
        <p:nvSpPr>
          <p:cNvPr id="22" name="Text 18"/>
          <p:cNvSpPr/>
          <p:nvPr/>
        </p:nvSpPr>
        <p:spPr>
          <a:xfrm>
            <a:off x="6812280" y="4864608"/>
            <a:ext cx="4480560" cy="1005840"/>
          </a:xfrm>
          <a:prstGeom prst="rect">
            <a:avLst/>
          </a:prstGeom>
          <a:noFill/>
          <a:ln/>
        </p:spPr>
        <p:txBody>
          <a:bodyPr wrap="square" lIns="0" tIns="0" rIns="0" bIns="0" rtlCol="0" anchor="ctr"/>
          <a:lstStyle/>
          <a:p>
            <a:pPr indent="0" marL="0">
              <a:buNone/>
            </a:pPr>
            <a:r>
              <a:rPr lang="en-US" sz="1300" dirty="0">
                <a:solidFill>
                  <a:srgbClr val="2B3440"/>
                </a:solidFill>
                <a:latin typeface="Calibri" pitchFamily="34" charset="0"/>
                <a:ea typeface="Calibri" pitchFamily="34" charset="-122"/>
                <a:cs typeface="Calibri" pitchFamily="34" charset="-120"/>
              </a:rPr>
              <a:t>If throughput is too forgiving, try latency. Under bursty load the best non-predictive policy comes within 3% of a policy that knows the future exactly.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THEORY  ·  OUTLOOK</a:t>
            </a:r>
            <a:endParaRPr lang="en-US" sz="1100" dirty="0"/>
          </a:p>
        </p:txBody>
      </p:sp>
      <p:sp>
        <p:nvSpPr>
          <p:cNvPr id="4"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200" b="1" dirty="0">
                <a:solidFill>
                  <a:srgbClr val="2B3440"/>
                </a:solidFill>
                <a:latin typeface="Cambria" pitchFamily="34" charset="0"/>
                <a:ea typeface="Cambria" pitchFamily="34" charset="-122"/>
                <a:cs typeface="Cambria" pitchFamily="34" charset="-120"/>
              </a:rPr>
              <a:t>Why the wall should be expected</a:t>
            </a:r>
            <a:endParaRPr lang="en-US" sz="3200" dirty="0"/>
          </a:p>
        </p:txBody>
      </p:sp>
      <p:sp>
        <p:nvSpPr>
          <p:cNvPr id="5" name="Shape 2"/>
          <p:cNvSpPr/>
          <p:nvPr/>
        </p:nvSpPr>
        <p:spPr>
          <a:xfrm>
            <a:off x="640080" y="1463040"/>
            <a:ext cx="10881360" cy="1600200"/>
          </a:xfrm>
          <a:prstGeom prst="roundRect">
            <a:avLst>
              <a:gd name="adj" fmla="val 4571"/>
            </a:avLst>
          </a:prstGeom>
          <a:solidFill>
            <a:srgbClr val="F1F3F5"/>
          </a:solidFill>
          <a:ln w="12700">
            <a:solidFill>
              <a:srgbClr val="F1F3F5"/>
            </a:solidFill>
            <a:prstDash val="solid"/>
          </a:ln>
        </p:spPr>
      </p:sp>
      <p:sp>
        <p:nvSpPr>
          <p:cNvPr id="6" name="Text 3"/>
          <p:cNvSpPr/>
          <p:nvPr/>
        </p:nvSpPr>
        <p:spPr>
          <a:xfrm>
            <a:off x="932688" y="1600200"/>
            <a:ext cx="10296144" cy="320040"/>
          </a:xfrm>
          <a:prstGeom prst="rect">
            <a:avLst/>
          </a:prstGeom>
          <a:noFill/>
          <a:ln/>
        </p:spPr>
        <p:txBody>
          <a:bodyPr wrap="square" lIns="0" tIns="0" rIns="0" bIns="0"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Every test-and-fallback algorithm, deciding by any measurable rule on its prefix, satisfies</a:t>
            </a:r>
            <a:endParaRPr lang="en-US" sz="1300" dirty="0"/>
          </a:p>
        </p:txBody>
      </p:sp>
      <p:sp>
        <p:nvSpPr>
          <p:cNvPr id="7" name="Text 4"/>
          <p:cNvSpPr/>
          <p:nvPr/>
        </p:nvSpPr>
        <p:spPr>
          <a:xfrm>
            <a:off x="932688" y="1965960"/>
            <a:ext cx="10296144" cy="566928"/>
          </a:xfrm>
          <a:prstGeom prst="rect">
            <a:avLst/>
          </a:prstGeom>
          <a:noFill/>
          <a:ln/>
        </p:spPr>
        <p:txBody>
          <a:bodyPr wrap="square" lIns="0" tIns="0" rIns="0" bIns="0" rtlCol="0" anchor="ctr"/>
          <a:lstStyle/>
          <a:p>
            <a:pPr algn="ctr" indent="0" marL="0">
              <a:buNone/>
            </a:pPr>
            <a:r>
              <a:rPr lang="en-US" sz="2800" b="1" dirty="0">
                <a:solidFill>
                  <a:srgbClr val="2B3440"/>
                </a:solidFill>
                <a:latin typeface="Cambria" pitchFamily="34" charset="0"/>
                <a:ea typeface="Cambria" pitchFamily="34" charset="-122"/>
                <a:cs typeface="Cambria" pitchFamily="34" charset="-120"/>
              </a:rPr>
              <a:t>(1 − η</a:t>
            </a:r>
            <a:pPr algn="ctr" indent="0" marL="0">
              <a:buNone/>
            </a:pPr>
            <a:r>
              <a:rPr lang="en-US" sz="2800" b="1" baseline="-40000" dirty="0">
                <a:solidFill>
                  <a:srgbClr val="2B3440"/>
                </a:solidFill>
                <a:latin typeface="Cambria" pitchFamily="34" charset="0"/>
                <a:ea typeface="Cambria" pitchFamily="34" charset="-122"/>
                <a:cs typeface="Cambria" pitchFamily="34" charset="-120"/>
              </a:rPr>
              <a:t>c</a:t>
            </a:r>
            <a:pPr algn="ctr" indent="0" marL="0">
              <a:buNone/>
            </a:pPr>
            <a:r>
              <a:rPr lang="en-US" sz="2800" b="1" dirty="0">
                <a:solidFill>
                  <a:srgbClr val="2B3440"/>
                </a:solidFill>
                <a:latin typeface="Cambria" pitchFamily="34" charset="0"/>
                <a:ea typeface="Cambria" pitchFamily="34" charset="-122"/>
                <a:cs typeface="Cambria" pitchFamily="34" charset="-120"/>
              </a:rPr>
              <a:t>)   ≤   η</a:t>
            </a:r>
            <a:pPr algn="ctr" indent="0" marL="0">
              <a:buNone/>
            </a:pPr>
            <a:r>
              <a:rPr lang="en-US" sz="2800" b="1" baseline="-40000" dirty="0">
                <a:solidFill>
                  <a:srgbClr val="2B3440"/>
                </a:solidFill>
                <a:latin typeface="Cambria" pitchFamily="34" charset="0"/>
                <a:ea typeface="Cambria" pitchFamily="34" charset="-122"/>
                <a:cs typeface="Cambria" pitchFamily="34" charset="-120"/>
              </a:rPr>
              <a:t>r</a:t>
            </a:r>
            <a:pPr algn="ctr" indent="0" marL="0">
              <a:buNone/>
            </a:pPr>
            <a:r>
              <a:rPr lang="en-US" sz="2800" b="1" dirty="0">
                <a:solidFill>
                  <a:srgbClr val="2B3440"/>
                </a:solidFill>
                <a:latin typeface="Cambria" pitchFamily="34" charset="0"/>
                <a:ea typeface="Cambria" pitchFamily="34" charset="-122"/>
                <a:cs typeface="Cambria" pitchFamily="34" charset="-120"/>
              </a:rPr>
              <a:t>  +  γ</a:t>
            </a:r>
            <a:pPr algn="ctr" indent="0" marL="0">
              <a:buNone/>
            </a:pPr>
            <a:r>
              <a:rPr lang="en-US" sz="2800" b="1" baseline="-40000" dirty="0">
                <a:solidFill>
                  <a:srgbClr val="2B3440"/>
                </a:solidFill>
                <a:latin typeface="Cambria" pitchFamily="34" charset="0"/>
                <a:ea typeface="Cambria" pitchFamily="34" charset="-122"/>
                <a:cs typeface="Cambria" pitchFamily="34" charset="-120"/>
              </a:rPr>
              <a:t>k</a:t>
            </a:r>
            <a:pPr algn="ctr" indent="0" marL="0">
              <a:buNone/>
            </a:pPr>
            <a:r>
              <a:rPr lang="en-US" sz="2800" b="1" dirty="0">
                <a:solidFill>
                  <a:srgbClr val="2B3440"/>
                </a:solidFill>
                <a:latin typeface="Cambria" pitchFamily="34" charset="0"/>
                <a:ea typeface="Cambria" pitchFamily="34" charset="-122"/>
                <a:cs typeface="Cambria" pitchFamily="34" charset="-120"/>
              </a:rPr>
              <a:t>  +  o(1)</a:t>
            </a:r>
            <a:endParaRPr lang="en-US" sz="2800" dirty="0"/>
          </a:p>
        </p:txBody>
      </p:sp>
      <p:sp>
        <p:nvSpPr>
          <p:cNvPr id="8" name="Text 5"/>
          <p:cNvSpPr/>
          <p:nvPr/>
        </p:nvSpPr>
        <p:spPr>
          <a:xfrm>
            <a:off x="932688" y="2587752"/>
            <a:ext cx="10296144" cy="320040"/>
          </a:xfrm>
          <a:prstGeom prst="rect">
            <a:avLst/>
          </a:prstGeom>
          <a:noFill/>
          <a:ln/>
        </p:spPr>
        <p:txBody>
          <a:bodyPr wrap="square" lIns="0" tIns="0" rIns="0" bIns="0" rtlCol="0" anchor="ctr"/>
          <a:lstStyle/>
          <a:p>
            <a:pPr algn="ctr" indent="0" marL="0">
              <a:buNone/>
            </a:pPr>
            <a:r>
              <a:rPr lang="en-US" sz="1250" i="1" dirty="0">
                <a:solidFill>
                  <a:srgbClr val="6B7280"/>
                </a:solidFill>
                <a:latin typeface="Calibri" pitchFamily="34" charset="0"/>
                <a:ea typeface="Calibri" pitchFamily="34" charset="-122"/>
                <a:cs typeface="Calibri" pitchFamily="34" charset="-120"/>
              </a:rPr>
              <a:t>forgone upside   ≤   robustness loss   +   how far apart the two prefix distributions are</a:t>
            </a:r>
            <a:endParaRPr lang="en-US" sz="1250" dirty="0"/>
          </a:p>
        </p:txBody>
      </p:sp>
      <p:sp>
        <p:nvSpPr>
          <p:cNvPr id="9" name="Text 6"/>
          <p:cNvSpPr/>
          <p:nvPr/>
        </p:nvSpPr>
        <p:spPr>
          <a:xfrm>
            <a:off x="640080" y="3337560"/>
            <a:ext cx="585216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B3440"/>
                </a:solidFill>
                <a:latin typeface="Calibri" pitchFamily="34" charset="0"/>
                <a:ea typeface="Calibri" pitchFamily="34" charset="-122"/>
                <a:cs typeface="Calibri" pitchFamily="34" charset="-120"/>
              </a:rPr>
              <a:t>“Consistent and robust” becomes a question of sample complexity: how long a prefix is needed to tell good advice from bad?</a:t>
            </a:r>
            <a:endParaRPr lang="en-US" sz="1400" dirty="0"/>
          </a:p>
          <a:p>
            <a:pPr marL="342900" indent="-342900">
              <a:spcAft>
                <a:spcPts val="800"/>
              </a:spcAft>
              <a:buSzPct val="100000"/>
              <a:buChar char="•"/>
            </a:pPr>
            <a:r>
              <a:rPr lang="en-US" sz="1400" dirty="0">
                <a:solidFill>
                  <a:srgbClr val="2B3440"/>
                </a:solidFill>
                <a:latin typeface="Calibri" pitchFamily="34" charset="0"/>
                <a:ea typeface="Calibri" pitchFamily="34" charset="-122"/>
                <a:cs typeface="Calibri" pitchFamily="34" charset="-120"/>
              </a:rPr>
              <a:t>The stakes are capped by the baseline's slack — so on strong-baseline instances the required prefix exceeds the whole instance.</a:t>
            </a:r>
            <a:endParaRPr lang="en-US" sz="1400" dirty="0"/>
          </a:p>
        </p:txBody>
      </p:sp>
      <p:sp>
        <p:nvSpPr>
          <p:cNvPr id="10" name="Shape 7"/>
          <p:cNvSpPr/>
          <p:nvPr/>
        </p:nvSpPr>
        <p:spPr>
          <a:xfrm>
            <a:off x="6949440" y="3337560"/>
            <a:ext cx="4572000" cy="2103120"/>
          </a:xfrm>
          <a:prstGeom prst="roundRect">
            <a:avLst>
              <a:gd name="adj" fmla="val 3478"/>
            </a:avLst>
          </a:prstGeom>
          <a:solidFill>
            <a:srgbClr val="F1F3F5"/>
          </a:solidFill>
          <a:ln w="12700">
            <a:solidFill>
              <a:srgbClr val="F1F3F5"/>
            </a:solidFill>
            <a:prstDash val="solid"/>
          </a:ln>
        </p:spPr>
      </p:sp>
      <p:sp>
        <p:nvSpPr>
          <p:cNvPr id="11" name="Text 8"/>
          <p:cNvSpPr/>
          <p:nvPr/>
        </p:nvSpPr>
        <p:spPr>
          <a:xfrm>
            <a:off x="7223760" y="3520440"/>
            <a:ext cx="4023360" cy="731520"/>
          </a:xfrm>
          <a:prstGeom prst="rect">
            <a:avLst/>
          </a:prstGeom>
          <a:noFill/>
          <a:ln/>
        </p:spPr>
        <p:txBody>
          <a:bodyPr wrap="square" lIns="0" tIns="0" rIns="0" bIns="0" rtlCol="0" anchor="ctr"/>
          <a:lstStyle/>
          <a:p>
            <a:pPr indent="0" marL="0">
              <a:buNone/>
            </a:pPr>
            <a:r>
              <a:rPr lang="en-US" sz="4000" b="1" dirty="0">
                <a:solidFill>
                  <a:srgbClr val="C1440E"/>
                </a:solidFill>
                <a:latin typeface="Cambria" pitchFamily="34" charset="0"/>
                <a:ea typeface="Cambria" pitchFamily="34" charset="-122"/>
                <a:cs typeface="Cambria" pitchFamily="34" charset="-120"/>
              </a:rPr>
              <a:t>≈ 0.004</a:t>
            </a:r>
            <a:endParaRPr lang="en-US" sz="4000" dirty="0"/>
          </a:p>
        </p:txBody>
      </p:sp>
      <p:sp>
        <p:nvSpPr>
          <p:cNvPr id="12" name="Text 9"/>
          <p:cNvSpPr/>
          <p:nvPr/>
        </p:nvSpPr>
        <p:spPr>
          <a:xfrm>
            <a:off x="7223760" y="4251960"/>
            <a:ext cx="4023360" cy="1051560"/>
          </a:xfrm>
          <a:prstGeom prst="rect">
            <a:avLst/>
          </a:prstGeom>
          <a:noFill/>
          <a:ln/>
        </p:spPr>
        <p:txBody>
          <a:bodyPr wrap="square" lIns="0" tIns="0" rIns="0" bIns="0" rtlCol="0" anchor="ctr"/>
          <a:lstStyle/>
          <a:p>
            <a:pPr indent="0" marL="0">
              <a:buNone/>
            </a:pPr>
            <a:r>
              <a:rPr lang="en-US" sz="1250" dirty="0">
                <a:solidFill>
                  <a:srgbClr val="2B3440"/>
                </a:solidFill>
                <a:latin typeface="Calibri" pitchFamily="34" charset="0"/>
                <a:ea typeface="Calibri" pitchFamily="34" charset="-122"/>
                <a:cs typeface="Calibri" pitchFamily="34" charset="-120"/>
              </a:rPr>
              <a:t>the upside the reading says no rule can capture at the benchmark's parameters — exactly the order of the upsides I measured.</a:t>
            </a:r>
            <a:endParaRPr lang="en-US" sz="1250" dirty="0"/>
          </a:p>
        </p:txBody>
      </p:sp>
      <p:sp>
        <p:nvSpPr>
          <p:cNvPr id="13" name="Shape 10"/>
          <p:cNvSpPr/>
          <p:nvPr/>
        </p:nvSpPr>
        <p:spPr>
          <a:xfrm>
            <a:off x="640080" y="5669280"/>
            <a:ext cx="10881360" cy="777240"/>
          </a:xfrm>
          <a:prstGeom prst="roundRect">
            <a:avLst>
              <a:gd name="adj" fmla="val 9412"/>
            </a:avLst>
          </a:prstGeom>
          <a:solidFill>
            <a:srgbClr val="F1F3F5"/>
          </a:solidFill>
          <a:ln w="12700">
            <a:solidFill>
              <a:srgbClr val="F1F3F5"/>
            </a:solidFill>
            <a:prstDash val="solid"/>
          </a:ln>
        </p:spPr>
      </p:sp>
      <p:sp>
        <p:nvSpPr>
          <p:cNvPr id="14" name="Text 11"/>
          <p:cNvSpPr/>
          <p:nvPr/>
        </p:nvSpPr>
        <p:spPr>
          <a:xfrm>
            <a:off x="932688" y="5760720"/>
            <a:ext cx="10296144" cy="594360"/>
          </a:xfrm>
          <a:prstGeom prst="rect">
            <a:avLst/>
          </a:prstGeom>
          <a:noFill/>
          <a:ln/>
        </p:spPr>
        <p:txBody>
          <a:bodyPr wrap="square" lIns="0" tIns="0" rIns="0" bIns="0" rtlCol="0" anchor="ctr"/>
          <a:lstStyle/>
          <a:p>
            <a:pPr indent="0" marL="0">
              <a:buNone/>
            </a:pPr>
            <a:r>
              <a:rPr lang="en-US" sz="1300" i="1" dirty="0">
                <a:solidFill>
                  <a:srgbClr val="2B3440"/>
                </a:solidFill>
                <a:latin typeface="Calibri" pitchFamily="34" charset="0"/>
                <a:ea typeface="Calibri" pitchFamily="34" charset="-122"/>
                <a:cs typeface="Calibri" pitchFamily="34" charset="-120"/>
              </a:rPr>
              <a:t>Scope: only the inequality above is proved here. The budget law behind the number, and whether it extends past decomposable families, is not established in this thesis.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933"/>
        </a:solidFill>
      </p:bgPr>
    </p:bg>
    <p:spTree>
      <p:nvGrpSpPr>
        <p:cNvPr id="1" name=""/>
        <p:cNvGrpSpPr/>
        <p:nvPr/>
      </p:nvGrpSpPr>
      <p:grpSpPr>
        <a:xfrm>
          <a:off x="0" y="0"/>
          <a:ext cx="0" cy="0"/>
          <a:chOff x="0" y="0"/>
          <a:chExt cx="0" cy="0"/>
        </a:xfrm>
      </p:grpSpPr>
      <p:sp>
        <p:nvSpPr>
          <p:cNvPr id="3" name="Text 0"/>
          <p:cNvSpPr/>
          <p:nvPr/>
        </p:nvSpPr>
        <p:spPr>
          <a:xfrm>
            <a:off x="640080" y="457200"/>
            <a:ext cx="7315200" cy="274320"/>
          </a:xfrm>
          <a:prstGeom prst="rect">
            <a:avLst/>
          </a:prstGeom>
          <a:noFill/>
          <a:ln/>
        </p:spPr>
        <p:txBody>
          <a:bodyPr wrap="square" lIns="0" tIns="0" rIns="0" bIns="0" rtlCol="0" anchor="ctr"/>
          <a:lstStyle/>
          <a:p>
            <a:pPr indent="0" marL="0">
              <a:buNone/>
            </a:pPr>
            <a:r>
              <a:rPr lang="en-US" sz="1100" b="1" spc="200" kern="0" dirty="0">
                <a:solidFill>
                  <a:srgbClr val="CBD5DC"/>
                </a:solidFill>
                <a:latin typeface="Calibri" pitchFamily="34" charset="0"/>
                <a:ea typeface="Calibri" pitchFamily="34" charset="-122"/>
                <a:cs typeface="Calibri" pitchFamily="34" charset="-120"/>
              </a:rPr>
              <a:t>EVALUATION</a:t>
            </a:r>
            <a:endParaRPr lang="en-US" sz="1100" dirty="0"/>
          </a:p>
        </p:txBody>
      </p:sp>
      <p:sp>
        <p:nvSpPr>
          <p:cNvPr id="4" name="Text 1"/>
          <p:cNvSpPr/>
          <p:nvPr/>
        </p:nvSpPr>
        <p:spPr>
          <a:xfrm>
            <a:off x="640080" y="777240"/>
            <a:ext cx="1088136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the project achieved, and what it did not</a:t>
            </a:r>
            <a:endParaRPr lang="en-US" sz="3000" dirty="0"/>
          </a:p>
        </p:txBody>
      </p:sp>
      <p:sp>
        <p:nvSpPr>
          <p:cNvPr id="5" name="Shape 2"/>
          <p:cNvSpPr/>
          <p:nvPr/>
        </p:nvSpPr>
        <p:spPr>
          <a:xfrm>
            <a:off x="640080" y="1645920"/>
            <a:ext cx="5577840" cy="1024128"/>
          </a:xfrm>
          <a:prstGeom prst="roundRect">
            <a:avLst>
              <a:gd name="adj" fmla="val 7143"/>
            </a:avLst>
          </a:prstGeom>
          <a:solidFill>
            <a:srgbClr val="2E3A46"/>
          </a:solidFill>
          <a:ln w="12700">
            <a:solidFill>
              <a:srgbClr val="2E3A46"/>
            </a:solidFill>
            <a:prstDash val="solid"/>
          </a:ln>
        </p:spPr>
      </p:sp>
      <p:sp>
        <p:nvSpPr>
          <p:cNvPr id="6" name="Shape 3"/>
          <p:cNvSpPr/>
          <p:nvPr/>
        </p:nvSpPr>
        <p:spPr>
          <a:xfrm>
            <a:off x="914400" y="1929384"/>
            <a:ext cx="457200" cy="457200"/>
          </a:xfrm>
          <a:prstGeom prst="ellipse">
            <a:avLst/>
          </a:prstGeom>
          <a:solidFill>
            <a:srgbClr val="C8A24B"/>
          </a:solidFill>
          <a:ln/>
        </p:spPr>
      </p:sp>
      <p:sp>
        <p:nvSpPr>
          <p:cNvPr id="7" name="Text 4"/>
          <p:cNvSpPr/>
          <p:nvPr/>
        </p:nvSpPr>
        <p:spPr>
          <a:xfrm>
            <a:off x="914400" y="19293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1554480" y="1755648"/>
            <a:ext cx="448056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The brief: met, with one substitution</a:t>
            </a:r>
            <a:endParaRPr lang="en-US" sz="1500" dirty="0"/>
          </a:p>
        </p:txBody>
      </p:sp>
      <p:sp>
        <p:nvSpPr>
          <p:cNvPr id="9" name="Text 6"/>
          <p:cNvSpPr/>
          <p:nvPr/>
        </p:nvSpPr>
        <p:spPr>
          <a:xfrm>
            <a:off x="1554480" y="2066544"/>
            <a:ext cx="4480560" cy="548640"/>
          </a:xfrm>
          <a:prstGeom prst="rect">
            <a:avLst/>
          </a:prstGeom>
          <a:noFill/>
          <a:ln/>
        </p:spPr>
        <p:txBody>
          <a:bodyPr wrap="square" lIns="0" tIns="0" rIns="0" bIns="0" rtlCol="0" anchor="ctr"/>
          <a:lstStyle/>
          <a:p>
            <a:pPr indent="0" marL="0">
              <a:buNone/>
            </a:pPr>
            <a:r>
              <a:rPr lang="en-US" sz="1150" dirty="0">
                <a:solidFill>
                  <a:srgbClr val="DDE4EA"/>
                </a:solidFill>
                <a:latin typeface="Calibri" pitchFamily="34" charset="0"/>
                <a:ea typeface="Calibri" pitchFamily="34" charset="-122"/>
                <a:cs typeface="Calibri" pitchFamily="34" charset="-120"/>
              </a:rPr>
              <a:t>reproduction and graph types as asked; the extension went to learning-augmented, not streaming — Appendix A.7 now adds that arm</a:t>
            </a:r>
            <a:endParaRPr lang="en-US" sz="1150" dirty="0"/>
          </a:p>
        </p:txBody>
      </p:sp>
      <p:sp>
        <p:nvSpPr>
          <p:cNvPr id="10" name="Shape 7"/>
          <p:cNvSpPr/>
          <p:nvPr/>
        </p:nvSpPr>
        <p:spPr>
          <a:xfrm>
            <a:off x="640080" y="2816352"/>
            <a:ext cx="5577840" cy="1024128"/>
          </a:xfrm>
          <a:prstGeom prst="roundRect">
            <a:avLst>
              <a:gd name="adj" fmla="val 7143"/>
            </a:avLst>
          </a:prstGeom>
          <a:solidFill>
            <a:srgbClr val="2E3A46"/>
          </a:solidFill>
          <a:ln w="12700">
            <a:solidFill>
              <a:srgbClr val="2E3A46"/>
            </a:solidFill>
            <a:prstDash val="solid"/>
          </a:ln>
        </p:spPr>
      </p:sp>
      <p:sp>
        <p:nvSpPr>
          <p:cNvPr id="11" name="Shape 8"/>
          <p:cNvSpPr/>
          <p:nvPr/>
        </p:nvSpPr>
        <p:spPr>
          <a:xfrm>
            <a:off x="914400" y="3099816"/>
            <a:ext cx="457200" cy="457200"/>
          </a:xfrm>
          <a:prstGeom prst="ellipse">
            <a:avLst/>
          </a:prstGeom>
          <a:solidFill>
            <a:srgbClr val="2F6F6B"/>
          </a:solidFill>
          <a:ln/>
        </p:spPr>
      </p:sp>
      <p:sp>
        <p:nvSpPr>
          <p:cNvPr id="12" name="Text 9"/>
          <p:cNvSpPr/>
          <p:nvPr/>
        </p:nvSpPr>
        <p:spPr>
          <a:xfrm>
            <a:off x="914400" y="30998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p:nvPr/>
        </p:nvSpPr>
        <p:spPr>
          <a:xfrm>
            <a:off x="1554480" y="2926080"/>
            <a:ext cx="448056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My RQ1 and RQ3: met</a:t>
            </a:r>
            <a:endParaRPr lang="en-US" sz="1500" dirty="0"/>
          </a:p>
        </p:txBody>
      </p:sp>
      <p:sp>
        <p:nvSpPr>
          <p:cNvPr id="14" name="Text 11"/>
          <p:cNvSpPr/>
          <p:nvPr/>
        </p:nvSpPr>
        <p:spPr>
          <a:xfrm>
            <a:off x="1554480" y="3236976"/>
            <a:ext cx="4480560" cy="548640"/>
          </a:xfrm>
          <a:prstGeom prst="rect">
            <a:avLst/>
          </a:prstGeom>
          <a:noFill/>
          <a:ln/>
        </p:spPr>
        <p:txBody>
          <a:bodyPr wrap="square" lIns="0" tIns="0" rIns="0" bIns="0" rtlCol="0" anchor="ctr"/>
          <a:lstStyle/>
          <a:p>
            <a:pPr indent="0" marL="0">
              <a:buNone/>
            </a:pPr>
            <a:r>
              <a:rPr lang="en-US" sz="1150" dirty="0">
                <a:solidFill>
                  <a:srgbClr val="DDE4EA"/>
                </a:solidFill>
                <a:latin typeface="Calibri" pitchFamily="34" charset="0"/>
                <a:ea typeface="Calibri" pitchFamily="34" charset="-122"/>
                <a:cs typeface="Calibri" pitchFamily="34" charset="-120"/>
              </a:rPr>
              <a:t>the theoretical ordering does not match the practical one; the fallback mechanism's real cost is measured in full</a:t>
            </a:r>
            <a:endParaRPr lang="en-US" sz="1150" dirty="0"/>
          </a:p>
        </p:txBody>
      </p:sp>
      <p:sp>
        <p:nvSpPr>
          <p:cNvPr id="15" name="Shape 12"/>
          <p:cNvSpPr/>
          <p:nvPr/>
        </p:nvSpPr>
        <p:spPr>
          <a:xfrm>
            <a:off x="640080" y="3986784"/>
            <a:ext cx="5577840" cy="1024128"/>
          </a:xfrm>
          <a:prstGeom prst="roundRect">
            <a:avLst>
              <a:gd name="adj" fmla="val 7143"/>
            </a:avLst>
          </a:prstGeom>
          <a:solidFill>
            <a:srgbClr val="2E3A46"/>
          </a:solidFill>
          <a:ln w="12700">
            <a:solidFill>
              <a:srgbClr val="2E3A46"/>
            </a:solidFill>
            <a:prstDash val="solid"/>
          </a:ln>
        </p:spPr>
      </p:sp>
      <p:sp>
        <p:nvSpPr>
          <p:cNvPr id="16" name="Shape 13"/>
          <p:cNvSpPr/>
          <p:nvPr/>
        </p:nvSpPr>
        <p:spPr>
          <a:xfrm>
            <a:off x="914400" y="4270248"/>
            <a:ext cx="457200" cy="457200"/>
          </a:xfrm>
          <a:prstGeom prst="ellipse">
            <a:avLst/>
          </a:prstGeom>
          <a:solidFill>
            <a:srgbClr val="C8A24B"/>
          </a:solidFill>
          <a:ln/>
        </p:spPr>
      </p:sp>
      <p:sp>
        <p:nvSpPr>
          <p:cNvPr id="17" name="Text 14"/>
          <p:cNvSpPr/>
          <p:nvPr/>
        </p:nvSpPr>
        <p:spPr>
          <a:xfrm>
            <a:off x="914400" y="42702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5"/>
          <p:cNvSpPr/>
          <p:nvPr/>
        </p:nvSpPr>
        <p:spPr>
          <a:xfrm>
            <a:off x="1554480" y="4096512"/>
            <a:ext cx="448056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RQ2: met in part</a:t>
            </a:r>
            <a:endParaRPr lang="en-US" sz="1500" dirty="0"/>
          </a:p>
        </p:txBody>
      </p:sp>
      <p:sp>
        <p:nvSpPr>
          <p:cNvPr id="19" name="Text 16"/>
          <p:cNvSpPr/>
          <p:nvPr/>
        </p:nvSpPr>
        <p:spPr>
          <a:xfrm>
            <a:off x="1554480" y="4407408"/>
            <a:ext cx="4480560" cy="548640"/>
          </a:xfrm>
          <a:prstGeom prst="rect">
            <a:avLst/>
          </a:prstGeom>
          <a:noFill/>
          <a:ln/>
        </p:spPr>
        <p:txBody>
          <a:bodyPr wrap="square" lIns="0" tIns="0" rIns="0" bIns="0" rtlCol="0" anchor="ctr"/>
          <a:lstStyle/>
          <a:p>
            <a:pPr indent="0" marL="0">
              <a:buNone/>
            </a:pPr>
            <a:r>
              <a:rPr lang="en-US" sz="1150" dirty="0">
                <a:solidFill>
                  <a:srgbClr val="DDE4EA"/>
                </a:solidFill>
                <a:latin typeface="Calibri" pitchFamily="34" charset="0"/>
                <a:ea typeface="Calibri" pitchFamily="34" charset="-122"/>
                <a:cs typeface="Calibri" pitchFamily="34" charset="-120"/>
              </a:rPr>
              <a:t>the order-error curve is stronger than I asked for; where algorithms' curves cross is answered only qualitatively</a:t>
            </a:r>
            <a:endParaRPr lang="en-US" sz="1150" dirty="0"/>
          </a:p>
        </p:txBody>
      </p:sp>
      <p:sp>
        <p:nvSpPr>
          <p:cNvPr id="20" name="Shape 17"/>
          <p:cNvSpPr/>
          <p:nvPr/>
        </p:nvSpPr>
        <p:spPr>
          <a:xfrm>
            <a:off x="640080" y="5157216"/>
            <a:ext cx="5577840" cy="1024128"/>
          </a:xfrm>
          <a:prstGeom prst="roundRect">
            <a:avLst>
              <a:gd name="adj" fmla="val 7143"/>
            </a:avLst>
          </a:prstGeom>
          <a:solidFill>
            <a:srgbClr val="2E3A46"/>
          </a:solidFill>
          <a:ln w="12700">
            <a:solidFill>
              <a:srgbClr val="2E3A46"/>
            </a:solidFill>
            <a:prstDash val="solid"/>
          </a:ln>
        </p:spPr>
      </p:sp>
      <p:sp>
        <p:nvSpPr>
          <p:cNvPr id="21" name="Shape 18"/>
          <p:cNvSpPr/>
          <p:nvPr/>
        </p:nvSpPr>
        <p:spPr>
          <a:xfrm>
            <a:off x="914400" y="5440680"/>
            <a:ext cx="457200" cy="457200"/>
          </a:xfrm>
          <a:prstGeom prst="ellipse">
            <a:avLst/>
          </a:prstGeom>
          <a:solidFill>
            <a:srgbClr val="C1440E"/>
          </a:solidFill>
          <a:ln/>
        </p:spPr>
      </p:sp>
      <p:sp>
        <p:nvSpPr>
          <p:cNvPr id="22" name="Text 19"/>
          <p:cNvSpPr/>
          <p:nvPr/>
        </p:nvSpPr>
        <p:spPr>
          <a:xfrm>
            <a:off x="914400" y="5440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p:nvPr/>
        </p:nvSpPr>
        <p:spPr>
          <a:xfrm>
            <a:off x="1554480" y="5266944"/>
            <a:ext cx="4480560" cy="2926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Not delivered: the adversarial arm</a:t>
            </a:r>
            <a:endParaRPr lang="en-US" sz="1500" dirty="0"/>
          </a:p>
        </p:txBody>
      </p:sp>
      <p:sp>
        <p:nvSpPr>
          <p:cNvPr id="24" name="Text 21"/>
          <p:cNvSpPr/>
          <p:nvPr/>
        </p:nvSpPr>
        <p:spPr>
          <a:xfrm>
            <a:off x="1554480" y="5577840"/>
            <a:ext cx="4480560" cy="548640"/>
          </a:xfrm>
          <a:prstGeom prst="rect">
            <a:avLst/>
          </a:prstGeom>
          <a:noFill/>
          <a:ln/>
        </p:spPr>
        <p:txBody>
          <a:bodyPr wrap="square" lIns="0" tIns="0" rIns="0" bIns="0" rtlCol="0" anchor="ctr"/>
          <a:lstStyle/>
          <a:p>
            <a:pPr indent="0" marL="0">
              <a:buNone/>
            </a:pPr>
            <a:r>
              <a:rPr lang="en-US" sz="1150" dirty="0">
                <a:solidFill>
                  <a:srgbClr val="DDE4EA"/>
                </a:solidFill>
                <a:latin typeface="Calibri" pitchFamily="34" charset="0"/>
                <a:ea typeface="Calibri" pitchFamily="34" charset="-122"/>
                <a:cs typeface="Calibri" pitchFamily="34" charset="-120"/>
              </a:rPr>
              <a:t>my proposal made arrival order an independent variable — I worked only in known-i.i.d., the model where my headline is most likely to hold</a:t>
            </a:r>
            <a:endParaRPr lang="en-US" sz="1150" dirty="0"/>
          </a:p>
        </p:txBody>
      </p:sp>
      <p:sp>
        <p:nvSpPr>
          <p:cNvPr id="25" name="Text 22"/>
          <p:cNvSpPr/>
          <p:nvPr/>
        </p:nvSpPr>
        <p:spPr>
          <a:xfrm>
            <a:off x="6858000" y="1645920"/>
            <a:ext cx="457200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With hindsight</a:t>
            </a:r>
            <a:endParaRPr lang="en-US" sz="2000" dirty="0"/>
          </a:p>
        </p:txBody>
      </p:sp>
      <p:sp>
        <p:nvSpPr>
          <p:cNvPr id="26" name="Text 23"/>
          <p:cNvSpPr/>
          <p:nvPr/>
        </p:nvSpPr>
        <p:spPr>
          <a:xfrm>
            <a:off x="6858000" y="2194560"/>
            <a:ext cx="4663440" cy="896112"/>
          </a:xfrm>
          <a:prstGeom prst="rect">
            <a:avLst/>
          </a:prstGeom>
          <a:noFill/>
          <a:ln/>
        </p:spPr>
        <p:txBody>
          <a:bodyPr wrap="square" lIns="0" tIns="0" rIns="0" bIns="0" rtlCol="0" anchor="t"/>
          <a:lstStyle/>
          <a:p>
            <a:pPr indent="0" marL="0">
              <a:buNone/>
            </a:pPr>
            <a:r>
              <a:rPr lang="en-US" sz="1250" b="1" dirty="0">
                <a:solidFill>
                  <a:srgbClr val="2F6F6B"/>
                </a:solidFill>
                <a:latin typeface="Calibri" pitchFamily="34" charset="0"/>
                <a:ea typeface="Calibri" pitchFamily="34" charset="-122"/>
                <a:cs typeface="Calibri" pitchFamily="34" charset="-120"/>
              </a:rPr>
              <a:t>Right  </a:t>
            </a:r>
            <a:pPr indent="0" marL="0">
              <a:buNone/>
            </a:pPr>
            <a:r>
              <a:rPr lang="en-US" sz="1250" dirty="0">
                <a:solidFill>
                  <a:srgbClr val="DDE4EA"/>
                </a:solidFill>
                <a:latin typeface="Calibri" pitchFamily="34" charset="0"/>
                <a:ea typeface="Calibri" pitchFamily="34" charset="-122"/>
                <a:cs typeface="Calibri" pitchFamily="34" charset="-120"/>
              </a:rPr>
              <a:t>structured error models — the proposal's own design bet, and i.i.d. noise would have hidden the order effect entirely</a:t>
            </a:r>
            <a:endParaRPr lang="en-US" sz="1250" dirty="0"/>
          </a:p>
        </p:txBody>
      </p:sp>
      <p:sp>
        <p:nvSpPr>
          <p:cNvPr id="27" name="Text 24"/>
          <p:cNvSpPr/>
          <p:nvPr/>
        </p:nvSpPr>
        <p:spPr>
          <a:xfrm>
            <a:off x="6858000" y="3218688"/>
            <a:ext cx="4663440" cy="896112"/>
          </a:xfrm>
          <a:prstGeom prst="rect">
            <a:avLst/>
          </a:prstGeom>
          <a:noFill/>
          <a:ln/>
        </p:spPr>
        <p:txBody>
          <a:bodyPr wrap="square" lIns="0" tIns="0" rIns="0" bIns="0" rtlCol="0" anchor="t"/>
          <a:lstStyle/>
          <a:p>
            <a:pPr indent="0" marL="0">
              <a:buNone/>
            </a:pPr>
            <a:r>
              <a:rPr lang="en-US" sz="1250" b="1" dirty="0">
                <a:solidFill>
                  <a:srgbClr val="2F6F6B"/>
                </a:solidFill>
                <a:latin typeface="Calibri" pitchFamily="34" charset="0"/>
                <a:ea typeface="Calibri" pitchFamily="34" charset="-122"/>
                <a:cs typeface="Calibri" pitchFamily="34" charset="-120"/>
              </a:rPr>
              <a:t>Right  </a:t>
            </a:r>
            <a:pPr indent="0" marL="0">
              <a:buNone/>
            </a:pPr>
            <a:r>
              <a:rPr lang="en-US" sz="1250" dirty="0">
                <a:solidFill>
                  <a:srgbClr val="DDE4EA"/>
                </a:solidFill>
                <a:latin typeface="Calibri" pitchFamily="34" charset="0"/>
                <a:ea typeface="Calibri" pitchFamily="34" charset="-122"/>
                <a:cs typeface="Calibri" pitchFamily="34" charset="-120"/>
              </a:rPr>
              <a:t>validating against Borodin et al. before building anything on the harness</a:t>
            </a:r>
            <a:endParaRPr lang="en-US" sz="1250" dirty="0"/>
          </a:p>
        </p:txBody>
      </p:sp>
      <p:sp>
        <p:nvSpPr>
          <p:cNvPr id="28" name="Text 25"/>
          <p:cNvSpPr/>
          <p:nvPr/>
        </p:nvSpPr>
        <p:spPr>
          <a:xfrm>
            <a:off x="6858000" y="4242816"/>
            <a:ext cx="4663440" cy="896112"/>
          </a:xfrm>
          <a:prstGeom prst="rect">
            <a:avLst/>
          </a:prstGeom>
          <a:noFill/>
          <a:ln/>
        </p:spPr>
        <p:txBody>
          <a:bodyPr wrap="square" lIns="0" tIns="0" rIns="0" bIns="0" rtlCol="0" anchor="t"/>
          <a:lstStyle/>
          <a:p>
            <a:pPr indent="0" marL="0">
              <a:buNone/>
            </a:pPr>
            <a:r>
              <a:rPr lang="en-US" sz="1250" b="1" dirty="0">
                <a:solidFill>
                  <a:srgbClr val="C8A24B"/>
                </a:solidFill>
                <a:latin typeface="Calibri" pitchFamily="34" charset="0"/>
                <a:ea typeface="Calibri" pitchFamily="34" charset="-122"/>
                <a:cs typeface="Calibri" pitchFamily="34" charset="-120"/>
              </a:rPr>
              <a:t>Debatable  </a:t>
            </a:r>
            <a:pPr indent="0" marL="0">
              <a:buNone/>
            </a:pPr>
            <a:r>
              <a:rPr lang="en-US" sz="1250" dirty="0">
                <a:solidFill>
                  <a:srgbClr val="DDE4EA"/>
                </a:solidFill>
                <a:latin typeface="Calibri" pitchFamily="34" charset="0"/>
                <a:ea typeface="Calibri" pitchFamily="34" charset="-122"/>
                <a:cs typeface="Calibri" pitchFamily="34" charset="-120"/>
              </a:rPr>
              <a:t>measuring only matching size — a second objective should have run through the whole benchmark</a:t>
            </a:r>
            <a:endParaRPr lang="en-US" sz="1250" dirty="0"/>
          </a:p>
        </p:txBody>
      </p:sp>
      <p:sp>
        <p:nvSpPr>
          <p:cNvPr id="29" name="Text 26"/>
          <p:cNvSpPr/>
          <p:nvPr/>
        </p:nvSpPr>
        <p:spPr>
          <a:xfrm>
            <a:off x="6858000" y="5266944"/>
            <a:ext cx="4663440" cy="896112"/>
          </a:xfrm>
          <a:prstGeom prst="rect">
            <a:avLst/>
          </a:prstGeom>
          <a:noFill/>
          <a:ln/>
        </p:spPr>
        <p:txBody>
          <a:bodyPr wrap="square" lIns="0" tIns="0" rIns="0" bIns="0" rtlCol="0" anchor="t"/>
          <a:lstStyle/>
          <a:p>
            <a:pPr indent="0" marL="0">
              <a:buNone/>
            </a:pPr>
            <a:r>
              <a:rPr lang="en-US" sz="1250" b="1" dirty="0">
                <a:solidFill>
                  <a:srgbClr val="CBD5DC"/>
                </a:solidFill>
                <a:latin typeface="Calibri" pitchFamily="34" charset="0"/>
                <a:ea typeface="Calibri" pitchFamily="34" charset="-122"/>
                <a:cs typeface="Calibri" pitchFamily="34" charset="-120"/>
              </a:rPr>
              <a:t>Process  </a:t>
            </a:r>
            <a:pPr indent="0" marL="0">
              <a:buNone/>
            </a:pPr>
            <a:r>
              <a:rPr lang="en-US" sz="1250" dirty="0">
                <a:solidFill>
                  <a:srgbClr val="DDE4EA"/>
                </a:solidFill>
                <a:latin typeface="Calibri" pitchFamily="34" charset="0"/>
                <a:ea typeface="Calibri" pitchFamily="34" charset="-122"/>
                <a:cs typeface="Calibri" pitchFamily="34" charset="-120"/>
              </a:rPr>
              <a:t>I ran the synthetic stages before the real-feature test; the cheaper, decisive experiment should have come first</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2933"/>
        </a:solidFill>
      </p:bgPr>
    </p:bg>
    <p:spTree>
      <p:nvGrpSpPr>
        <p:cNvPr id="1" name=""/>
        <p:cNvGrpSpPr/>
        <p:nvPr/>
      </p:nvGrpSpPr>
      <p:grpSpPr>
        <a:xfrm>
          <a:off x="0" y="0"/>
          <a:ext cx="0" cy="0"/>
          <a:chOff x="0" y="0"/>
          <a:chExt cx="0" cy="0"/>
        </a:xfrm>
      </p:grpSpPr>
      <p:sp>
        <p:nvSpPr>
          <p:cNvPr id="3" name="Text 0"/>
          <p:cNvSpPr/>
          <p:nvPr/>
        </p:nvSpPr>
        <p:spPr>
          <a:xfrm>
            <a:off x="640080" y="594360"/>
            <a:ext cx="7315200" cy="274320"/>
          </a:xfrm>
          <a:prstGeom prst="rect">
            <a:avLst/>
          </a:prstGeom>
          <a:noFill/>
          <a:ln/>
        </p:spPr>
        <p:txBody>
          <a:bodyPr wrap="square" lIns="0" tIns="0" rIns="0" bIns="0" rtlCol="0" anchor="ctr"/>
          <a:lstStyle/>
          <a:p>
            <a:pPr indent="0" marL="0">
              <a:buNone/>
            </a:pPr>
            <a:r>
              <a:rPr lang="en-US" sz="1100" b="1" spc="200" kern="0" dirty="0">
                <a:solidFill>
                  <a:srgbClr val="CBD5DC"/>
                </a:solidFill>
                <a:latin typeface="Calibri" pitchFamily="34" charset="0"/>
                <a:ea typeface="Calibri" pitchFamily="34" charset="-122"/>
                <a:cs typeface="Calibri" pitchFamily="34" charset="-120"/>
              </a:rPr>
              <a:t>CONCLUSION</a:t>
            </a:r>
            <a:endParaRPr lang="en-US" sz="1100" dirty="0"/>
          </a:p>
        </p:txBody>
      </p:sp>
      <p:sp>
        <p:nvSpPr>
          <p:cNvPr id="4" name="Text 1"/>
          <p:cNvSpPr/>
          <p:nvPr/>
        </p:nvSpPr>
        <p:spPr>
          <a:xfrm>
            <a:off x="640080" y="960120"/>
            <a:ext cx="1088136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Where predictions cannot help</a:t>
            </a:r>
            <a:endParaRPr lang="en-US" sz="3400" dirty="0"/>
          </a:p>
        </p:txBody>
      </p:sp>
      <p:sp>
        <p:nvSpPr>
          <p:cNvPr id="5" name="Shape 2"/>
          <p:cNvSpPr/>
          <p:nvPr/>
        </p:nvSpPr>
        <p:spPr>
          <a:xfrm>
            <a:off x="640080" y="2148840"/>
            <a:ext cx="384048" cy="384048"/>
          </a:xfrm>
          <a:prstGeom prst="ellipse">
            <a:avLst/>
          </a:prstGeom>
          <a:solidFill>
            <a:srgbClr val="2F6F6B"/>
          </a:solidFill>
          <a:ln/>
        </p:spPr>
      </p:sp>
      <p:sp>
        <p:nvSpPr>
          <p:cNvPr id="6" name="Text 3"/>
          <p:cNvSpPr/>
          <p:nvPr/>
        </p:nvSpPr>
        <p:spPr>
          <a:xfrm>
            <a:off x="640080" y="2148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4"/>
          <p:cNvSpPr/>
          <p:nvPr/>
        </p:nvSpPr>
        <p:spPr>
          <a:xfrm>
            <a:off x="1207008" y="2130552"/>
            <a:ext cx="676656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cheap, order-faithful predictor  </a:t>
            </a:r>
            <a:pPr indent="0" marL="0">
              <a:buNone/>
            </a:pPr>
            <a:r>
              <a:rPr lang="en-US" sz="1500" dirty="0">
                <a:solidFill>
                  <a:srgbClr val="DDE4EA"/>
                </a:solidFill>
                <a:latin typeface="Calibri" pitchFamily="34" charset="0"/>
                <a:ea typeface="Calibri" pitchFamily="34" charset="-122"/>
                <a:cs typeface="Calibri" pitchFamily="34" charset="-120"/>
              </a:rPr>
              <a:t>already captures nearly all there is to capture.</a:t>
            </a:r>
            <a:endParaRPr lang="en-US" sz="1500" dirty="0"/>
          </a:p>
        </p:txBody>
      </p:sp>
      <p:sp>
        <p:nvSpPr>
          <p:cNvPr id="8" name="Shape 5"/>
          <p:cNvSpPr/>
          <p:nvPr/>
        </p:nvSpPr>
        <p:spPr>
          <a:xfrm>
            <a:off x="640080" y="3108960"/>
            <a:ext cx="384048" cy="384048"/>
          </a:xfrm>
          <a:prstGeom prst="ellipse">
            <a:avLst/>
          </a:prstGeom>
          <a:solidFill>
            <a:srgbClr val="2F6F6B"/>
          </a:solidFill>
          <a:ln/>
        </p:spPr>
      </p:sp>
      <p:sp>
        <p:nvSpPr>
          <p:cNvPr id="9" name="Text 6"/>
          <p:cNvSpPr/>
          <p:nvPr/>
        </p:nvSpPr>
        <p:spPr>
          <a:xfrm>
            <a:off x="640080" y="3108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7"/>
          <p:cNvSpPr/>
          <p:nvPr/>
        </p:nvSpPr>
        <p:spPr>
          <a:xfrm>
            <a:off x="1207008" y="3090672"/>
            <a:ext cx="676656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sophisticated machinery  </a:t>
            </a:r>
            <a:pPr indent="0" marL="0">
              <a:buNone/>
            </a:pPr>
            <a:r>
              <a:rPr lang="en-US" sz="1500" dirty="0">
                <a:solidFill>
                  <a:srgbClr val="DDE4EA"/>
                </a:solidFill>
                <a:latin typeface="Calibri" pitchFamily="34" charset="0"/>
                <a:ea typeface="Calibri" pitchFamily="34" charset="-122"/>
                <a:cs typeface="Calibri" pitchFamily="34" charset="-120"/>
              </a:rPr>
              <a:t>earns its keep as insurance, not as performance.</a:t>
            </a:r>
            <a:endParaRPr lang="en-US" sz="1500" dirty="0"/>
          </a:p>
        </p:txBody>
      </p:sp>
      <p:sp>
        <p:nvSpPr>
          <p:cNvPr id="11" name="Shape 8"/>
          <p:cNvSpPr/>
          <p:nvPr/>
        </p:nvSpPr>
        <p:spPr>
          <a:xfrm>
            <a:off x="640080" y="4069080"/>
            <a:ext cx="384048" cy="384048"/>
          </a:xfrm>
          <a:prstGeom prst="ellipse">
            <a:avLst/>
          </a:prstGeom>
          <a:solidFill>
            <a:srgbClr val="C1440E"/>
          </a:solidFill>
          <a:ln/>
        </p:spPr>
      </p:sp>
      <p:sp>
        <p:nvSpPr>
          <p:cNvPr id="12" name="Text 9"/>
          <p:cNvSpPr/>
          <p:nvPr/>
        </p:nvSpPr>
        <p:spPr>
          <a:xfrm>
            <a:off x="640080" y="4069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0"/>
          <p:cNvSpPr/>
          <p:nvPr/>
        </p:nvSpPr>
        <p:spPr>
          <a:xfrm>
            <a:off x="1207008" y="4050792"/>
            <a:ext cx="6766560" cy="7315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Finding out whether to trust a prediction  </a:t>
            </a:r>
            <a:pPr indent="0" marL="0">
              <a:buNone/>
            </a:pPr>
            <a:r>
              <a:rPr lang="en-US" sz="1500" dirty="0">
                <a:solidFill>
                  <a:srgbClr val="DDE4EA"/>
                </a:solidFill>
                <a:latin typeface="Calibri" pitchFamily="34" charset="0"/>
                <a:ea typeface="Calibri" pitchFamily="34" charset="-122"/>
                <a:cs typeface="Calibri" pitchFamily="34" charset="-120"/>
              </a:rPr>
              <a:t>costs more, on these inputs, than the prediction is worth.</a:t>
            </a:r>
            <a:endParaRPr lang="en-US" sz="1500" dirty="0"/>
          </a:p>
        </p:txBody>
      </p:sp>
      <p:sp>
        <p:nvSpPr>
          <p:cNvPr id="14" name="Shape 11"/>
          <p:cNvSpPr/>
          <p:nvPr/>
        </p:nvSpPr>
        <p:spPr>
          <a:xfrm>
            <a:off x="7863840" y="2148840"/>
            <a:ext cx="3657600" cy="2697480"/>
          </a:xfrm>
          <a:prstGeom prst="roundRect">
            <a:avLst>
              <a:gd name="adj" fmla="val 2712"/>
            </a:avLst>
          </a:prstGeom>
          <a:solidFill>
            <a:srgbClr val="2E3A46"/>
          </a:solidFill>
          <a:ln w="12700">
            <a:solidFill>
              <a:srgbClr val="2E3A46"/>
            </a:solidFill>
            <a:prstDash val="solid"/>
          </a:ln>
        </p:spPr>
      </p:sp>
      <p:sp>
        <p:nvSpPr>
          <p:cNvPr id="15" name="Text 12"/>
          <p:cNvSpPr/>
          <p:nvPr/>
        </p:nvSpPr>
        <p:spPr>
          <a:xfrm>
            <a:off x="8138160" y="2331720"/>
            <a:ext cx="320040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Where to look next</a:t>
            </a:r>
            <a:endParaRPr lang="en-US" sz="1600" dirty="0"/>
          </a:p>
        </p:txBody>
      </p:sp>
      <p:sp>
        <p:nvSpPr>
          <p:cNvPr id="16" name="Text 13"/>
          <p:cNvSpPr/>
          <p:nvPr/>
        </p:nvSpPr>
        <p:spPr>
          <a:xfrm>
            <a:off x="8138160" y="2743200"/>
            <a:ext cx="3200400" cy="1920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DDE4EA"/>
                </a:solidFill>
                <a:latin typeface="Calibri" pitchFamily="34" charset="0"/>
                <a:ea typeface="Calibri" pitchFamily="34" charset="-122"/>
                <a:cs typeface="Calibri" pitchFamily="34" charset="-120"/>
              </a:rPr>
              <a:t>Adversarial or non-stationary arrivals, where the baseline is provably far from optimal</a:t>
            </a:r>
            <a:endParaRPr lang="en-US" sz="1200" dirty="0"/>
          </a:p>
          <a:p>
            <a:pPr marL="342900" indent="-342900">
              <a:spcAft>
                <a:spcPts val="800"/>
              </a:spcAft>
              <a:buSzPct val="100000"/>
              <a:buChar char="•"/>
            </a:pPr>
            <a:r>
              <a:rPr lang="en-US" sz="1200" dirty="0">
                <a:solidFill>
                  <a:srgbClr val="DDE4EA"/>
                </a:solidFill>
                <a:latin typeface="Calibri" pitchFamily="34" charset="0"/>
                <a:ea typeface="Calibri" pitchFamily="34" charset="-122"/>
                <a:cs typeface="Calibri" pitchFamily="34" charset="-120"/>
              </a:rPr>
              <a:t>Objectives on which the baseline is not near-optimal</a:t>
            </a:r>
            <a:endParaRPr lang="en-US" sz="1200" dirty="0"/>
          </a:p>
          <a:p>
            <a:pPr marL="342900" indent="-342900">
              <a:spcAft>
                <a:spcPts val="800"/>
              </a:spcAft>
              <a:buSzPct val="100000"/>
              <a:buChar char="•"/>
            </a:pPr>
            <a:r>
              <a:rPr lang="en-US" sz="1200" dirty="0">
                <a:solidFill>
                  <a:srgbClr val="DDE4EA"/>
                </a:solidFill>
                <a:latin typeface="Calibri" pitchFamily="34" charset="0"/>
                <a:ea typeface="Calibri" pitchFamily="34" charset="-122"/>
                <a:cs typeface="Calibri" pitchFamily="34" charset="-120"/>
              </a:rPr>
              <a:t>Completing the budget–stakes law</a:t>
            </a:r>
            <a:endParaRPr lang="en-US" sz="1200" dirty="0"/>
          </a:p>
        </p:txBody>
      </p:sp>
      <p:sp>
        <p:nvSpPr>
          <p:cNvPr id="17" name="Text 14"/>
          <p:cNvSpPr/>
          <p:nvPr/>
        </p:nvSpPr>
        <p:spPr>
          <a:xfrm>
            <a:off x="640080" y="5349240"/>
            <a:ext cx="10881360" cy="548640"/>
          </a:xfrm>
          <a:prstGeom prst="rect">
            <a:avLst/>
          </a:prstGeom>
          <a:noFill/>
          <a:ln/>
        </p:spPr>
        <p:txBody>
          <a:bodyPr wrap="square" lIns="0" tIns="0" rIns="0" bIns="0" rtlCol="0" anchor="ctr"/>
          <a:lstStyle/>
          <a:p>
            <a:pPr indent="0" marL="0">
              <a:buNone/>
            </a:pPr>
            <a:r>
              <a:rPr lang="en-US" sz="1900" i="1" dirty="0">
                <a:solidFill>
                  <a:srgbClr val="FFFFFF"/>
                </a:solidFill>
                <a:latin typeface="Cambria" pitchFamily="34" charset="0"/>
                <a:ea typeface="Cambria" pitchFamily="34" charset="-122"/>
                <a:cs typeface="Cambria" pitchFamily="34" charset="-120"/>
              </a:rPr>
              <a:t>Recognising where predictions cannot help is, I hope, as useful as knowing where they can.</a:t>
            </a:r>
            <a:endParaRPr lang="en-US" sz="1900" dirty="0"/>
          </a:p>
        </p:txBody>
      </p:sp>
      <p:sp>
        <p:nvSpPr>
          <p:cNvPr id="18" name="Text 15"/>
          <p:cNvSpPr/>
          <p:nvPr/>
        </p:nvSpPr>
        <p:spPr>
          <a:xfrm>
            <a:off x="640080" y="5989320"/>
            <a:ext cx="7315200" cy="365760"/>
          </a:xfrm>
          <a:prstGeom prst="rect">
            <a:avLst/>
          </a:prstGeom>
          <a:noFill/>
          <a:ln/>
        </p:spPr>
        <p:txBody>
          <a:bodyPr wrap="square" lIns="0" tIns="0" rIns="0" bIns="0" rtlCol="0" anchor="ctr"/>
          <a:lstStyle/>
          <a:p>
            <a:pPr indent="0" marL="0">
              <a:buNone/>
            </a:pPr>
            <a:r>
              <a:rPr lang="en-US" sz="1400" dirty="0">
                <a:solidFill>
                  <a:srgbClr val="CBD5DC"/>
                </a:solidFill>
                <a:latin typeface="Calibri" pitchFamily="34" charset="0"/>
                <a:ea typeface="Calibri" pitchFamily="34" charset="-122"/>
                <a:cs typeface="Calibri" pitchFamily="34" charset="-120"/>
              </a:rPr>
              <a:t>Thank you — happy to take questions.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FOR QUESTIONS</a:t>
            </a:r>
            <a:endParaRPr lang="en-US" sz="1100" dirty="0"/>
          </a:p>
        </p:txBody>
      </p:sp>
      <p:sp>
        <p:nvSpPr>
          <p:cNvPr id="4"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200" b="1" dirty="0">
                <a:solidFill>
                  <a:srgbClr val="2B3440"/>
                </a:solidFill>
                <a:latin typeface="Cambria" pitchFamily="34" charset="0"/>
                <a:ea typeface="Cambria" pitchFamily="34" charset="-122"/>
                <a:cs typeface="Cambria" pitchFamily="34" charset="-120"/>
              </a:rPr>
              <a:t>Backup · the four findings on six real graphs</a:t>
            </a:r>
            <a:endParaRPr lang="en-US" sz="3200" dirty="0"/>
          </a:p>
        </p:txBody>
      </p:sp>
      <p:pic>
        <p:nvPicPr>
          <p:cNvPr id="5" name="Image 0" descr="/Users/lizhuolun/Desktop/TB-3/matching-experiments/results/realworld_robustness.png">    </p:cNvPr>
          <p:cNvPicPr>
            <a:picLocks noChangeAspect="1"/>
          </p:cNvPicPr>
          <p:nvPr/>
        </p:nvPicPr>
        <p:blipFill>
          <a:blip r:embed="rId1"/>
          <a:stretch>
            <a:fillRect/>
          </a:stretch>
        </p:blipFill>
        <p:spPr>
          <a:xfrm>
            <a:off x="640080" y="1825204"/>
            <a:ext cx="6035040" cy="3390472"/>
          </a:xfrm>
          <a:prstGeom prst="rect">
            <a:avLst/>
          </a:prstGeom>
        </p:spPr>
      </p:pic>
      <p:sp>
        <p:nvSpPr>
          <p:cNvPr id="6" name="Text 2"/>
          <p:cNvSpPr/>
          <p:nvPr/>
        </p:nvSpPr>
        <p:spPr>
          <a:xfrm>
            <a:off x="6949440" y="1554480"/>
            <a:ext cx="685800" cy="320040"/>
          </a:xfrm>
          <a:prstGeom prst="rect">
            <a:avLst/>
          </a:prstGeom>
          <a:noFill/>
          <a:ln/>
        </p:spPr>
        <p:txBody>
          <a:bodyPr wrap="square" lIns="0" tIns="0" rIns="0" bIns="0" rtlCol="0" anchor="ctr"/>
          <a:lstStyle/>
          <a:p>
            <a:pPr indent="0" marL="0">
              <a:buNone/>
            </a:pPr>
            <a:r>
              <a:rPr lang="en-US" sz="1600" b="1" dirty="0">
                <a:solidFill>
                  <a:srgbClr val="C1440E"/>
                </a:solidFill>
                <a:latin typeface="Cambria" pitchFamily="34" charset="0"/>
                <a:ea typeface="Cambria" pitchFamily="34" charset="-122"/>
                <a:cs typeface="Cambria" pitchFamily="34" charset="-120"/>
              </a:rPr>
              <a:t>F1</a:t>
            </a:r>
            <a:endParaRPr lang="en-US" sz="1600" dirty="0"/>
          </a:p>
        </p:txBody>
      </p:sp>
      <p:sp>
        <p:nvSpPr>
          <p:cNvPr id="7" name="Text 3"/>
          <p:cNvSpPr/>
          <p:nvPr/>
        </p:nvSpPr>
        <p:spPr>
          <a:xfrm>
            <a:off x="7680960" y="1536192"/>
            <a:ext cx="3840480" cy="1005840"/>
          </a:xfrm>
          <a:prstGeom prst="rect">
            <a:avLst/>
          </a:prstGeom>
          <a:noFill/>
          <a:ln/>
        </p:spPr>
        <p:txBody>
          <a:bodyPr wrap="square" lIns="0" tIns="0" rIns="0" bIns="0" rtlCol="0" anchor="ctr"/>
          <a:lstStyle/>
          <a:p>
            <a:pPr indent="0" marL="0">
              <a:buNone/>
            </a:pPr>
            <a:r>
              <a:rPr lang="en-US" sz="1250" dirty="0">
                <a:solidFill>
                  <a:srgbClr val="2B3440"/>
                </a:solidFill>
                <a:latin typeface="Calibri" pitchFamily="34" charset="0"/>
                <a:ea typeface="Calibri" pitchFamily="34" charset="-122"/>
                <a:cs typeface="Calibri" pitchFamily="34" charset="-120"/>
              </a:rPr>
              <a:t>naive following falls below the advice-free floor on all six, by 0.06 to 0.10</a:t>
            </a:r>
            <a:endParaRPr lang="en-US" sz="1250" dirty="0"/>
          </a:p>
        </p:txBody>
      </p:sp>
      <p:sp>
        <p:nvSpPr>
          <p:cNvPr id="8" name="Text 4"/>
          <p:cNvSpPr/>
          <p:nvPr/>
        </p:nvSpPr>
        <p:spPr>
          <a:xfrm>
            <a:off x="6949440" y="2697480"/>
            <a:ext cx="685800" cy="320040"/>
          </a:xfrm>
          <a:prstGeom prst="rect">
            <a:avLst/>
          </a:prstGeom>
          <a:noFill/>
          <a:ln/>
        </p:spPr>
        <p:txBody>
          <a:bodyPr wrap="square" lIns="0" tIns="0" rIns="0" bIns="0" rtlCol="0" anchor="ctr"/>
          <a:lstStyle/>
          <a:p>
            <a:pPr indent="0" marL="0">
              <a:buNone/>
            </a:pPr>
            <a:r>
              <a:rPr lang="en-US" sz="1600" b="1" dirty="0">
                <a:solidFill>
                  <a:srgbClr val="2F6F6B"/>
                </a:solidFill>
                <a:latin typeface="Cambria" pitchFamily="34" charset="0"/>
                <a:ea typeface="Cambria" pitchFamily="34" charset="-122"/>
                <a:cs typeface="Cambria" pitchFamily="34" charset="-120"/>
              </a:rPr>
              <a:t>F2</a:t>
            </a:r>
            <a:endParaRPr lang="en-US" sz="1600" dirty="0"/>
          </a:p>
        </p:txBody>
      </p:sp>
      <p:sp>
        <p:nvSpPr>
          <p:cNvPr id="9" name="Text 5"/>
          <p:cNvSpPr/>
          <p:nvPr/>
        </p:nvSpPr>
        <p:spPr>
          <a:xfrm>
            <a:off x="7680960" y="2679192"/>
            <a:ext cx="3840480" cy="1005840"/>
          </a:xfrm>
          <a:prstGeom prst="rect">
            <a:avLst/>
          </a:prstGeom>
          <a:noFill/>
          <a:ln/>
        </p:spPr>
        <p:txBody>
          <a:bodyPr wrap="square" lIns="0" tIns="0" rIns="0" bIns="0" rtlCol="0" anchor="ctr"/>
          <a:lstStyle/>
          <a:p>
            <a:pPr indent="0" marL="0">
              <a:buNone/>
            </a:pPr>
            <a:r>
              <a:rPr lang="en-US" sz="1250" dirty="0">
                <a:solidFill>
                  <a:srgbClr val="2B3440"/>
                </a:solidFill>
                <a:latin typeface="Calibri" pitchFamily="34" charset="0"/>
                <a:ea typeface="Calibri" pitchFamily="34" charset="-122"/>
                <a:cs typeface="Calibri" pitchFamily="34" charset="-120"/>
              </a:rPr>
              <a:t>structural robustness holds qualitatively on all six; strictly on the four social and biological graphs</a:t>
            </a:r>
            <a:endParaRPr lang="en-US" sz="1250" dirty="0"/>
          </a:p>
        </p:txBody>
      </p:sp>
      <p:sp>
        <p:nvSpPr>
          <p:cNvPr id="10" name="Text 6"/>
          <p:cNvSpPr/>
          <p:nvPr/>
        </p:nvSpPr>
        <p:spPr>
          <a:xfrm>
            <a:off x="6949440" y="3840480"/>
            <a:ext cx="685800" cy="320040"/>
          </a:xfrm>
          <a:prstGeom prst="rect">
            <a:avLst/>
          </a:prstGeom>
          <a:noFill/>
          <a:ln/>
        </p:spPr>
        <p:txBody>
          <a:bodyPr wrap="square" lIns="0" tIns="0" rIns="0" bIns="0" rtlCol="0" anchor="ctr"/>
          <a:lstStyle/>
          <a:p>
            <a:pPr indent="0" marL="0">
              <a:buNone/>
            </a:pPr>
            <a:r>
              <a:rPr lang="en-US" sz="1600" b="1" dirty="0">
                <a:solidFill>
                  <a:srgbClr val="2F6F6B"/>
                </a:solidFill>
                <a:latin typeface="Cambria" pitchFamily="34" charset="0"/>
                <a:ea typeface="Cambria" pitchFamily="34" charset="-122"/>
                <a:cs typeface="Cambria" pitchFamily="34" charset="-120"/>
              </a:rPr>
              <a:t>F3</a:t>
            </a:r>
            <a:endParaRPr lang="en-US" sz="1600" dirty="0"/>
          </a:p>
        </p:txBody>
      </p:sp>
      <p:sp>
        <p:nvSpPr>
          <p:cNvPr id="11" name="Text 7"/>
          <p:cNvSpPr/>
          <p:nvPr/>
        </p:nvSpPr>
        <p:spPr>
          <a:xfrm>
            <a:off x="7680960" y="3822192"/>
            <a:ext cx="3840480" cy="1005840"/>
          </a:xfrm>
          <a:prstGeom prst="rect">
            <a:avLst/>
          </a:prstGeom>
          <a:noFill/>
          <a:ln/>
        </p:spPr>
        <p:txBody>
          <a:bodyPr wrap="square" lIns="0" tIns="0" rIns="0" bIns="0" rtlCol="0" anchor="ctr"/>
          <a:lstStyle/>
          <a:p>
            <a:pPr indent="0" marL="0">
              <a:buNone/>
            </a:pPr>
            <a:r>
              <a:rPr lang="en-US" sz="1250" dirty="0">
                <a:solidFill>
                  <a:srgbClr val="2B3440"/>
                </a:solidFill>
                <a:latin typeface="Calibri" pitchFamily="34" charset="0"/>
                <a:ea typeface="Calibri" pitchFamily="34" charset="-122"/>
                <a:cs typeface="Calibri" pitchFamily="34" charset="-120"/>
              </a:rPr>
              <a:t>the consistency upside is small everywhere (mean +0.049) and smallest exactly where the baseline is strongest</a:t>
            </a:r>
            <a:endParaRPr lang="en-US" sz="1250" dirty="0"/>
          </a:p>
        </p:txBody>
      </p:sp>
      <p:sp>
        <p:nvSpPr>
          <p:cNvPr id="12" name="Text 8"/>
          <p:cNvSpPr/>
          <p:nvPr/>
        </p:nvSpPr>
        <p:spPr>
          <a:xfrm>
            <a:off x="6949440" y="4983480"/>
            <a:ext cx="685800" cy="320040"/>
          </a:xfrm>
          <a:prstGeom prst="rect">
            <a:avLst/>
          </a:prstGeom>
          <a:noFill/>
          <a:ln/>
        </p:spPr>
        <p:txBody>
          <a:bodyPr wrap="square" lIns="0" tIns="0" rIns="0" bIns="0" rtlCol="0" anchor="ctr"/>
          <a:lstStyle/>
          <a:p>
            <a:pPr indent="0" marL="0">
              <a:buNone/>
            </a:pPr>
            <a:r>
              <a:rPr lang="en-US" sz="1600" b="1" dirty="0">
                <a:solidFill>
                  <a:srgbClr val="2F6F6B"/>
                </a:solidFill>
                <a:latin typeface="Cambria" pitchFamily="34" charset="0"/>
                <a:ea typeface="Cambria" pitchFamily="34" charset="-122"/>
                <a:cs typeface="Cambria" pitchFamily="34" charset="-120"/>
              </a:rPr>
              <a:t>F4</a:t>
            </a:r>
            <a:endParaRPr lang="en-US" sz="1600" dirty="0"/>
          </a:p>
        </p:txBody>
      </p:sp>
      <p:sp>
        <p:nvSpPr>
          <p:cNvPr id="13" name="Text 9"/>
          <p:cNvSpPr/>
          <p:nvPr/>
        </p:nvSpPr>
        <p:spPr>
          <a:xfrm>
            <a:off x="7680960" y="4965192"/>
            <a:ext cx="3840480" cy="1005840"/>
          </a:xfrm>
          <a:prstGeom prst="rect">
            <a:avLst/>
          </a:prstGeom>
          <a:noFill/>
          <a:ln/>
        </p:spPr>
        <p:txBody>
          <a:bodyPr wrap="square" lIns="0" tIns="0" rIns="0" bIns="0" rtlCol="0" anchor="ctr"/>
          <a:lstStyle/>
          <a:p>
            <a:pPr indent="0" marL="0">
              <a:buNone/>
            </a:pPr>
            <a:r>
              <a:rPr lang="en-US" sz="1250" dirty="0">
                <a:solidFill>
                  <a:srgbClr val="2B3440"/>
                </a:solidFill>
                <a:latin typeface="Calibri" pitchFamily="34" charset="0"/>
                <a:ea typeface="Calibri" pitchFamily="34" charset="-122"/>
                <a:cs typeface="Calibri" pitchFamily="34" charset="-120"/>
              </a:rPr>
              <a:t>the augmentation rescues the worst-case-designed algorithms: 0.73–0.77 lifted to 0.99</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FOR QUESTIONS · APPENDIX A.7</a:t>
            </a:r>
            <a:endParaRPr lang="en-US" sz="1100" dirty="0"/>
          </a:p>
        </p:txBody>
      </p:sp>
      <p:sp>
        <p:nvSpPr>
          <p:cNvPr id="4"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200" b="1" dirty="0">
                <a:solidFill>
                  <a:srgbClr val="2B3440"/>
                </a:solidFill>
                <a:latin typeface="Cambria" pitchFamily="34" charset="0"/>
                <a:ea typeface="Cambria" pitchFamily="34" charset="-122"/>
                <a:cs typeface="Cambria" pitchFamily="34" charset="-120"/>
              </a:rPr>
              <a:t>Backup · the relaxation ladder</a:t>
            </a:r>
            <a:endParaRPr lang="en-US" sz="3200" dirty="0"/>
          </a:p>
        </p:txBody>
      </p:sp>
      <p:pic>
        <p:nvPicPr>
          <p:cNvPr id="5" name="Image 0" descr="/Users/lizhuolun/Desktop/TB-3/matching-experiments/results/streaming_ladder.png">    </p:cNvPr>
          <p:cNvPicPr>
            <a:picLocks noChangeAspect="1"/>
          </p:cNvPicPr>
          <p:nvPr/>
        </p:nvPicPr>
        <p:blipFill>
          <a:blip r:embed="rId1"/>
          <a:stretch>
            <a:fillRect/>
          </a:stretch>
        </p:blipFill>
        <p:spPr>
          <a:xfrm>
            <a:off x="2112721" y="1417320"/>
            <a:ext cx="7936078" cy="3017520"/>
          </a:xfrm>
          <a:prstGeom prst="rect">
            <a:avLst/>
          </a:prstGeom>
        </p:spPr>
      </p:pic>
      <p:sp>
        <p:nvSpPr>
          <p:cNvPr id="6" name="Text 2"/>
          <p:cNvSpPr/>
          <p:nvPr/>
        </p:nvSpPr>
        <p:spPr>
          <a:xfrm>
            <a:off x="640080" y="4526280"/>
            <a:ext cx="10881360" cy="457200"/>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The brief suggested streaming or offline algorithms. Placed as a ladder of relaxations of the same instance, they separate the online model's two constraints — bounded memory, and no revision.</a:t>
            </a:r>
            <a:endParaRPr lang="en-US" sz="1300" dirty="0"/>
          </a:p>
        </p:txBody>
      </p:sp>
      <p:sp>
        <p:nvSpPr>
          <p:cNvPr id="7" name="Text 3"/>
          <p:cNvSpPr/>
          <p:nvPr/>
        </p:nvSpPr>
        <p:spPr>
          <a:xfrm>
            <a:off x="640080" y="5074920"/>
            <a:ext cx="10881360" cy="530352"/>
          </a:xfrm>
          <a:prstGeom prst="rect">
            <a:avLst/>
          </a:prstGeom>
          <a:noFill/>
          <a:ln/>
        </p:spPr>
        <p:txBody>
          <a:bodyPr wrap="square" lIns="0" tIns="0" rIns="0" bIns="0" rtlCol="0" anchor="t"/>
          <a:lstStyle/>
          <a:p>
            <a:pPr indent="0" marL="0">
              <a:buNone/>
            </a:pPr>
            <a:r>
              <a:rPr lang="en-US" sz="1200" b="1" dirty="0">
                <a:solidFill>
                  <a:srgbClr val="C1440E"/>
                </a:solidFill>
                <a:latin typeface="Calibri" pitchFamily="34" charset="0"/>
                <a:ea typeface="Calibri" pitchFamily="34" charset="-122"/>
                <a:cs typeface="Calibri" pitchFamily="34" charset="-120"/>
              </a:rPr>
              <a:t>One pass is not a free lunch — </a:t>
            </a:r>
            <a:pPr indent="0" marL="0">
              <a:buNone/>
            </a:pPr>
            <a:r>
              <a:rPr lang="en-US" sz="1200" dirty="0">
                <a:solidFill>
                  <a:srgbClr val="2B3440"/>
                </a:solidFill>
                <a:latin typeface="Calibri" pitchFamily="34" charset="0"/>
                <a:ea typeface="Calibri" pitchFamily="34" charset="-122"/>
                <a:cs typeface="Calibri" pitchFamily="34" charset="-120"/>
              </a:rPr>
              <a:t>edge arrival with O(n) memory is worse than online Greedy on seven of nine graphs — 0.879 against 0.964 on CE-PG. Both leave maximal matchings; grouping a node's edges together is what helps.</a:t>
            </a:r>
            <a:endParaRPr lang="en-US" sz="1200" dirty="0"/>
          </a:p>
        </p:txBody>
      </p:sp>
      <p:sp>
        <p:nvSpPr>
          <p:cNvPr id="8" name="Text 4"/>
          <p:cNvSpPr/>
          <p:nvPr/>
        </p:nvSpPr>
        <p:spPr>
          <a:xfrm>
            <a:off x="640080" y="5641848"/>
            <a:ext cx="10881360" cy="530352"/>
          </a:xfrm>
          <a:prstGeom prst="rect">
            <a:avLst/>
          </a:prstGeom>
          <a:noFill/>
          <a:ln/>
        </p:spPr>
        <p:txBody>
          <a:bodyPr wrap="square" lIns="0" tIns="0" rIns="0" bIns="0" rtlCol="0" anchor="t"/>
          <a:lstStyle/>
          <a:p>
            <a:pPr indent="0" marL="0">
              <a:buNone/>
            </a:pPr>
            <a:r>
              <a:rPr lang="en-US" sz="1200" b="1" dirty="0">
                <a:solidFill>
                  <a:srgbClr val="2F6F6B"/>
                </a:solidFill>
                <a:latin typeface="Calibri" pitchFamily="34" charset="0"/>
                <a:ea typeface="Calibri" pitchFamily="34" charset="-122"/>
                <a:cs typeface="Calibri" pitchFamily="34" charset="-120"/>
              </a:rPr>
              <a:t>The second pass is the lever — </a:t>
            </a:r>
            <a:pPr indent="0" marL="0">
              <a:buNone/>
            </a:pPr>
            <a:r>
              <a:rPr lang="en-US" sz="1200" dirty="0">
                <a:solidFill>
                  <a:srgbClr val="2B3440"/>
                </a:solidFill>
                <a:latin typeface="Calibri" pitchFamily="34" charset="0"/>
                <a:ea typeface="Calibri" pitchFamily="34" charset="-122"/>
                <a:cs typeface="Calibri" pitchFamily="34" charset="-120"/>
              </a:rPr>
              <a:t>one revision pass beats a perfect degree prediction on seven of nine, including all six real graphs (CE-PG +0.079 against +0.033).</a:t>
            </a:r>
            <a:endParaRPr lang="en-US" sz="1200" dirty="0"/>
          </a:p>
        </p:txBody>
      </p:sp>
      <p:sp>
        <p:nvSpPr>
          <p:cNvPr id="9" name="Text 5"/>
          <p:cNvSpPr/>
          <p:nvPr/>
        </p:nvSpPr>
        <p:spPr>
          <a:xfrm>
            <a:off x="640080" y="6208776"/>
            <a:ext cx="10881360" cy="530352"/>
          </a:xfrm>
          <a:prstGeom prst="rect">
            <a:avLst/>
          </a:prstGeom>
          <a:noFill/>
          <a:ln/>
        </p:spPr>
        <p:txBody>
          <a:bodyPr wrap="square" lIns="0" tIns="0" rIns="0" bIns="0" rtlCol="0" anchor="t"/>
          <a:lstStyle/>
          <a:p>
            <a:pPr indent="0" marL="0">
              <a:buNone/>
            </a:pPr>
            <a:r>
              <a:rPr lang="en-US" sz="1200" b="1" dirty="0">
                <a:solidFill>
                  <a:srgbClr val="C8A24B"/>
                </a:solidFill>
                <a:latin typeface="Calibri" pitchFamily="34" charset="0"/>
                <a:ea typeface="Calibri" pitchFamily="34" charset="-122"/>
                <a:cs typeface="Calibri" pitchFamily="34" charset="-120"/>
              </a:rPr>
              <a:t>So the residual gap is irrevocability — </a:t>
            </a:r>
            <a:pPr indent="0" marL="0">
              <a:buNone/>
            </a:pPr>
            <a:r>
              <a:rPr lang="en-US" sz="1200" dirty="0">
                <a:solidFill>
                  <a:srgbClr val="2B3440"/>
                </a:solidFill>
                <a:latin typeface="Calibri" pitchFamily="34" charset="0"/>
                <a:ea typeface="Calibri" pitchFamily="34" charset="-122"/>
                <a:cs typeface="Calibri" pitchFamily="34" charset="-120"/>
              </a:rPr>
              <a:t>not missing information. But a second pass is not an online algorithm — where decisions are physically committed, prediction is the only route.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6B7280"/>
                </a:solidFill>
                <a:latin typeface="Calibri" pitchFamily="34" charset="0"/>
                <a:ea typeface="Calibri" pitchFamily="34" charset="-122"/>
                <a:cs typeface="Calibri" pitchFamily="34" charset="-120"/>
              </a:rPr>
              <a:t>FOR QUESTIONS</a:t>
            </a:r>
            <a:endParaRPr lang="en-US" sz="1100" dirty="0"/>
          </a:p>
        </p:txBody>
      </p:sp>
      <p:sp>
        <p:nvSpPr>
          <p:cNvPr id="4" name="Text 1"/>
          <p:cNvSpPr/>
          <p:nvPr/>
        </p:nvSpPr>
        <p:spPr>
          <a:xfrm>
            <a:off x="640080" y="658368"/>
            <a:ext cx="10881360" cy="731520"/>
          </a:xfrm>
          <a:prstGeom prst="rect">
            <a:avLst/>
          </a:prstGeom>
          <a:noFill/>
          <a:ln/>
        </p:spPr>
        <p:txBody>
          <a:bodyPr wrap="square" lIns="0" tIns="0" rIns="0" bIns="0" rtlCol="0" anchor="t"/>
          <a:lstStyle/>
          <a:p>
            <a:pPr indent="0" marL="0">
              <a:buNone/>
            </a:pPr>
            <a:r>
              <a:rPr lang="en-US" sz="3200" b="1" dirty="0">
                <a:solidFill>
                  <a:srgbClr val="2B3440"/>
                </a:solidFill>
                <a:latin typeface="Cambria" pitchFamily="34" charset="0"/>
                <a:ea typeface="Cambria" pitchFamily="34" charset="-122"/>
                <a:cs typeface="Cambria" pitchFamily="34" charset="-120"/>
              </a:rPr>
              <a:t>Backup · limitations, stated plainly</a:t>
            </a:r>
            <a:endParaRPr lang="en-US" sz="3200" dirty="0"/>
          </a:p>
        </p:txBody>
      </p:sp>
      <p:sp>
        <p:nvSpPr>
          <p:cNvPr id="5" name="Shape 2"/>
          <p:cNvSpPr/>
          <p:nvPr/>
        </p:nvSpPr>
        <p:spPr>
          <a:xfrm>
            <a:off x="640080" y="1554480"/>
            <a:ext cx="10881360" cy="804672"/>
          </a:xfrm>
          <a:prstGeom prst="roundRect">
            <a:avLst>
              <a:gd name="adj" fmla="val 9091"/>
            </a:avLst>
          </a:prstGeom>
          <a:solidFill>
            <a:srgbClr val="F1F3F5"/>
          </a:solidFill>
          <a:ln w="12700">
            <a:solidFill>
              <a:srgbClr val="F1F3F5"/>
            </a:solidFill>
            <a:prstDash val="solid"/>
          </a:ln>
        </p:spPr>
      </p:sp>
      <p:sp>
        <p:nvSpPr>
          <p:cNvPr id="6" name="Text 3"/>
          <p:cNvSpPr/>
          <p:nvPr/>
        </p:nvSpPr>
        <p:spPr>
          <a:xfrm>
            <a:off x="932688" y="1700784"/>
            <a:ext cx="2194560" cy="502920"/>
          </a:xfrm>
          <a:prstGeom prst="rect">
            <a:avLst/>
          </a:prstGeom>
          <a:noFill/>
          <a:ln/>
        </p:spPr>
        <p:txBody>
          <a:bodyPr wrap="square" lIns="0" tIns="0" rIns="0" bIns="0" rtlCol="0" anchor="ctr"/>
          <a:lstStyle/>
          <a:p>
            <a:pPr indent="0" marL="0">
              <a:buNone/>
            </a:pPr>
            <a:r>
              <a:rPr lang="en-US" sz="1500" b="1" dirty="0">
                <a:solidFill>
                  <a:srgbClr val="2B3440"/>
                </a:solidFill>
                <a:latin typeface="Cambria" pitchFamily="34" charset="0"/>
                <a:ea typeface="Cambria" pitchFamily="34" charset="-122"/>
                <a:cs typeface="Cambria" pitchFamily="34" charset="-120"/>
              </a:rPr>
              <a:t>Input model</a:t>
            </a:r>
            <a:endParaRPr lang="en-US" sz="1500" dirty="0"/>
          </a:p>
        </p:txBody>
      </p:sp>
      <p:sp>
        <p:nvSpPr>
          <p:cNvPr id="7" name="Text 4"/>
          <p:cNvSpPr/>
          <p:nvPr/>
        </p:nvSpPr>
        <p:spPr>
          <a:xfrm>
            <a:off x="3383280" y="1645920"/>
            <a:ext cx="7772400" cy="621792"/>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Known-i.i.d. throughout. The wall is an average-case statement; I do not claim it for adversarial arrival order.</a:t>
            </a:r>
            <a:endParaRPr lang="en-US" sz="1300" dirty="0"/>
          </a:p>
        </p:txBody>
      </p:sp>
      <p:sp>
        <p:nvSpPr>
          <p:cNvPr id="8" name="Shape 5"/>
          <p:cNvSpPr/>
          <p:nvPr/>
        </p:nvSpPr>
        <p:spPr>
          <a:xfrm>
            <a:off x="640080" y="2487168"/>
            <a:ext cx="10881360" cy="804672"/>
          </a:xfrm>
          <a:prstGeom prst="roundRect">
            <a:avLst>
              <a:gd name="adj" fmla="val 9091"/>
            </a:avLst>
          </a:prstGeom>
          <a:solidFill>
            <a:srgbClr val="F1F3F5"/>
          </a:solidFill>
          <a:ln w="12700">
            <a:solidFill>
              <a:srgbClr val="F1F3F5"/>
            </a:solidFill>
            <a:prstDash val="solid"/>
          </a:ln>
        </p:spPr>
      </p:sp>
      <p:sp>
        <p:nvSpPr>
          <p:cNvPr id="9" name="Text 6"/>
          <p:cNvSpPr/>
          <p:nvPr/>
        </p:nvSpPr>
        <p:spPr>
          <a:xfrm>
            <a:off x="932688" y="2633472"/>
            <a:ext cx="2194560" cy="502920"/>
          </a:xfrm>
          <a:prstGeom prst="rect">
            <a:avLst/>
          </a:prstGeom>
          <a:noFill/>
          <a:ln/>
        </p:spPr>
        <p:txBody>
          <a:bodyPr wrap="square" lIns="0" tIns="0" rIns="0" bIns="0" rtlCol="0" anchor="ctr"/>
          <a:lstStyle/>
          <a:p>
            <a:pPr indent="0" marL="0">
              <a:buNone/>
            </a:pPr>
            <a:r>
              <a:rPr lang="en-US" sz="1500" b="1" dirty="0">
                <a:solidFill>
                  <a:srgbClr val="2B3440"/>
                </a:solidFill>
                <a:latin typeface="Cambria" pitchFamily="34" charset="0"/>
                <a:ea typeface="Cambria" pitchFamily="34" charset="-122"/>
                <a:cs typeface="Cambria" pitchFamily="34" charset="-120"/>
              </a:rPr>
              <a:t>Test model</a:t>
            </a:r>
            <a:endParaRPr lang="en-US" sz="1500" dirty="0"/>
          </a:p>
        </p:txBody>
      </p:sp>
      <p:sp>
        <p:nvSpPr>
          <p:cNvPr id="10" name="Text 7"/>
          <p:cNvSpPr/>
          <p:nvPr/>
        </p:nvSpPr>
        <p:spPr>
          <a:xfrm>
            <a:off x="3383280" y="2578608"/>
            <a:ext cx="7772400" cy="621792"/>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An empirical ℓ1 surrogate for the unimplemented tolerant tester, following the original authors.</a:t>
            </a:r>
            <a:endParaRPr lang="en-US" sz="1300" dirty="0"/>
          </a:p>
        </p:txBody>
      </p:sp>
      <p:sp>
        <p:nvSpPr>
          <p:cNvPr id="11" name="Shape 8"/>
          <p:cNvSpPr/>
          <p:nvPr/>
        </p:nvSpPr>
        <p:spPr>
          <a:xfrm>
            <a:off x="640080" y="3419856"/>
            <a:ext cx="10881360" cy="804672"/>
          </a:xfrm>
          <a:prstGeom prst="roundRect">
            <a:avLst>
              <a:gd name="adj" fmla="val 9091"/>
            </a:avLst>
          </a:prstGeom>
          <a:solidFill>
            <a:srgbClr val="F1F3F5"/>
          </a:solidFill>
          <a:ln w="12700">
            <a:solidFill>
              <a:srgbClr val="F1F3F5"/>
            </a:solidFill>
            <a:prstDash val="solid"/>
          </a:ln>
        </p:spPr>
      </p:sp>
      <p:sp>
        <p:nvSpPr>
          <p:cNvPr id="12" name="Text 9"/>
          <p:cNvSpPr/>
          <p:nvPr/>
        </p:nvSpPr>
        <p:spPr>
          <a:xfrm>
            <a:off x="932688" y="3566160"/>
            <a:ext cx="2194560" cy="502920"/>
          </a:xfrm>
          <a:prstGeom prst="rect">
            <a:avLst/>
          </a:prstGeom>
          <a:noFill/>
          <a:ln/>
        </p:spPr>
        <p:txBody>
          <a:bodyPr wrap="square" lIns="0" tIns="0" rIns="0" bIns="0" rtlCol="0" anchor="ctr"/>
          <a:lstStyle/>
          <a:p>
            <a:pPr indent="0" marL="0">
              <a:buNone/>
            </a:pPr>
            <a:r>
              <a:rPr lang="en-US" sz="1500" b="1" dirty="0">
                <a:solidFill>
                  <a:srgbClr val="2B3440"/>
                </a:solidFill>
                <a:latin typeface="Cambria" pitchFamily="34" charset="0"/>
                <a:ea typeface="Cambria" pitchFamily="34" charset="-122"/>
                <a:cs typeface="Cambria" pitchFamily="34" charset="-120"/>
              </a:rPr>
              <a:t>Objective</a:t>
            </a:r>
            <a:endParaRPr lang="en-US" sz="1500" dirty="0"/>
          </a:p>
        </p:txBody>
      </p:sp>
      <p:sp>
        <p:nvSpPr>
          <p:cNvPr id="13" name="Text 10"/>
          <p:cNvSpPr/>
          <p:nvPr/>
        </p:nvSpPr>
        <p:spPr>
          <a:xfrm>
            <a:off x="3383280" y="3511296"/>
            <a:ext cx="7772400" cy="621792"/>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Matching size only. On tail latency, fairness or recompute cost the picture could differ.</a:t>
            </a:r>
            <a:endParaRPr lang="en-US" sz="1300" dirty="0"/>
          </a:p>
        </p:txBody>
      </p:sp>
      <p:sp>
        <p:nvSpPr>
          <p:cNvPr id="14" name="Shape 11"/>
          <p:cNvSpPr/>
          <p:nvPr/>
        </p:nvSpPr>
        <p:spPr>
          <a:xfrm>
            <a:off x="640080" y="4352544"/>
            <a:ext cx="10881360" cy="804672"/>
          </a:xfrm>
          <a:prstGeom prst="roundRect">
            <a:avLst>
              <a:gd name="adj" fmla="val 9091"/>
            </a:avLst>
          </a:prstGeom>
          <a:solidFill>
            <a:srgbClr val="F1F3F5"/>
          </a:solidFill>
          <a:ln w="12700">
            <a:solidFill>
              <a:srgbClr val="F1F3F5"/>
            </a:solidFill>
            <a:prstDash val="solid"/>
          </a:ln>
        </p:spPr>
      </p:sp>
      <p:sp>
        <p:nvSpPr>
          <p:cNvPr id="15" name="Text 12"/>
          <p:cNvSpPr/>
          <p:nvPr/>
        </p:nvSpPr>
        <p:spPr>
          <a:xfrm>
            <a:off x="932688" y="4498848"/>
            <a:ext cx="2194560" cy="502920"/>
          </a:xfrm>
          <a:prstGeom prst="rect">
            <a:avLst/>
          </a:prstGeom>
          <a:noFill/>
          <a:ln/>
        </p:spPr>
        <p:txBody>
          <a:bodyPr wrap="square" lIns="0" tIns="0" rIns="0" bIns="0" rtlCol="0" anchor="ctr"/>
          <a:lstStyle/>
          <a:p>
            <a:pPr indent="0" marL="0">
              <a:buNone/>
            </a:pPr>
            <a:r>
              <a:rPr lang="en-US" sz="1500" b="1" dirty="0">
                <a:solidFill>
                  <a:srgbClr val="2B3440"/>
                </a:solidFill>
                <a:latin typeface="Cambria" pitchFamily="34" charset="0"/>
                <a:ea typeface="Cambria" pitchFamily="34" charset="-122"/>
                <a:cs typeface="Cambria" pitchFamily="34" charset="-120"/>
              </a:rPr>
              <a:t>Data breadth</a:t>
            </a:r>
            <a:endParaRPr lang="en-US" sz="1500" dirty="0"/>
          </a:p>
        </p:txBody>
      </p:sp>
      <p:sp>
        <p:nvSpPr>
          <p:cNvPr id="16" name="Text 13"/>
          <p:cNvSpPr/>
          <p:nvPr/>
        </p:nvSpPr>
        <p:spPr>
          <a:xfrm>
            <a:off x="3383280" y="4443984"/>
            <a:ext cx="7772400" cy="621792"/>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Each real modality is exercised by one trace.</a:t>
            </a:r>
            <a:endParaRPr lang="en-US" sz="1300" dirty="0"/>
          </a:p>
        </p:txBody>
      </p:sp>
      <p:sp>
        <p:nvSpPr>
          <p:cNvPr id="17" name="Shape 14"/>
          <p:cNvSpPr/>
          <p:nvPr/>
        </p:nvSpPr>
        <p:spPr>
          <a:xfrm>
            <a:off x="640080" y="5285232"/>
            <a:ext cx="10881360" cy="804672"/>
          </a:xfrm>
          <a:prstGeom prst="roundRect">
            <a:avLst>
              <a:gd name="adj" fmla="val 9091"/>
            </a:avLst>
          </a:prstGeom>
          <a:solidFill>
            <a:srgbClr val="F1F3F5"/>
          </a:solidFill>
          <a:ln w="12700">
            <a:solidFill>
              <a:srgbClr val="F1F3F5"/>
            </a:solidFill>
            <a:prstDash val="solid"/>
          </a:ln>
        </p:spPr>
      </p:sp>
      <p:sp>
        <p:nvSpPr>
          <p:cNvPr id="18" name="Text 15"/>
          <p:cNvSpPr/>
          <p:nvPr/>
        </p:nvSpPr>
        <p:spPr>
          <a:xfrm>
            <a:off x="932688" y="5431536"/>
            <a:ext cx="2194560" cy="502920"/>
          </a:xfrm>
          <a:prstGeom prst="rect">
            <a:avLst/>
          </a:prstGeom>
          <a:noFill/>
          <a:ln/>
        </p:spPr>
        <p:txBody>
          <a:bodyPr wrap="square" lIns="0" tIns="0" rIns="0" bIns="0" rtlCol="0" anchor="ctr"/>
          <a:lstStyle/>
          <a:p>
            <a:pPr indent="0" marL="0">
              <a:buNone/>
            </a:pPr>
            <a:r>
              <a:rPr lang="en-US" sz="1500" b="1" dirty="0">
                <a:solidFill>
                  <a:srgbClr val="2B3440"/>
                </a:solidFill>
                <a:latin typeface="Cambria" pitchFamily="34" charset="0"/>
                <a:ea typeface="Cambria" pitchFamily="34" charset="-122"/>
                <a:cs typeface="Cambria" pitchFamily="34" charset="-120"/>
              </a:rPr>
              <a:t>Theory scope</a:t>
            </a:r>
            <a:endParaRPr lang="en-US" sz="1500" dirty="0"/>
          </a:p>
        </p:txBody>
      </p:sp>
      <p:sp>
        <p:nvSpPr>
          <p:cNvPr id="19" name="Text 16"/>
          <p:cNvSpPr/>
          <p:nvPr/>
        </p:nvSpPr>
        <p:spPr>
          <a:xfrm>
            <a:off x="3383280" y="5376672"/>
            <a:ext cx="7772400" cy="621792"/>
          </a:xfrm>
          <a:prstGeom prst="rect">
            <a:avLst/>
          </a:prstGeom>
          <a:noFill/>
          <a:ln/>
        </p:spPr>
        <p:txBody>
          <a:bodyPr wrap="square" lIns="0" tIns="0" rIns="0" bIns="0" rtlCol="0" anchor="ctr"/>
          <a:lstStyle/>
          <a:p>
            <a:pPr indent="0" marL="0">
              <a:buNone/>
            </a:pPr>
            <a:r>
              <a:rPr lang="en-US" sz="1300" dirty="0">
                <a:solidFill>
                  <a:srgbClr val="6B7280"/>
                </a:solidFill>
                <a:latin typeface="Calibri" pitchFamily="34" charset="0"/>
                <a:ea typeface="Calibri" pitchFamily="34" charset="-122"/>
                <a:cs typeface="Calibri" pitchFamily="34" charset="-120"/>
              </a:rPr>
              <a:t>One proved inequality plus a quantitative reading. No theorem beyond that is claimed.</a:t>
            </a:r>
            <a:endParaRPr lang="en-US" sz="1300" dirty="0"/>
          </a:p>
        </p:txBody>
      </p:sp>
      <p:sp>
        <p:nvSpPr>
          <p:cNvPr id="20" name="Text 17"/>
          <p:cNvSpPr/>
          <p:nvPr/>
        </p:nvSpPr>
        <p:spPr>
          <a:xfrm>
            <a:off x="640080" y="6172200"/>
            <a:ext cx="10881360" cy="365760"/>
          </a:xfrm>
          <a:prstGeom prst="rect">
            <a:avLst/>
          </a:prstGeom>
          <a:noFill/>
          <a:ln/>
        </p:spPr>
        <p:txBody>
          <a:bodyPr wrap="square" lIns="0" tIns="0" rIns="0" bIns="0"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Scale: 16 figures, all regenerated from a fixed seed by a single script; reproduction guide in Appendix 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Limits of Predictions for Online Bipartite Matching</dc:title>
  <dc:subject>PptxGenJS Presentation</dc:subject>
  <dc:creator>Zhuolun Li</dc:creator>
  <cp:lastModifiedBy>Zhuolun Li</cp:lastModifiedBy>
  <cp:revision>1</cp:revision>
  <dcterms:created xsi:type="dcterms:W3CDTF">2026-08-24T18:12:36Z</dcterms:created>
  <dcterms:modified xsi:type="dcterms:W3CDTF">2026-08-24T18:12:36Z</dcterms:modified>
</cp:coreProperties>
</file>